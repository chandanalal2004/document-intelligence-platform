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5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A71F"/>
    <a:srgbClr val="E6C155"/>
    <a:srgbClr val="880000"/>
    <a:srgbClr val="CB0000"/>
    <a:srgbClr val="DE8C04"/>
    <a:srgbClr val="C44000"/>
    <a:srgbClr val="C97B09"/>
    <a:srgbClr val="805800"/>
    <a:srgbClr val="000000"/>
    <a:srgbClr val="D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 showGuides="1">
      <p:cViewPr>
        <p:scale>
          <a:sx n="33" d="100"/>
          <a:sy n="33" d="100"/>
        </p:scale>
        <p:origin x="576" y="1195"/>
      </p:cViewPr>
      <p:guideLst>
        <p:guide orient="horz" pos="115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78430AA6-1365-4747-B325-1D6B206A9B4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0839228A-F630-42A4-9129-10EC40324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583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30AA6-1365-4747-B325-1D6B206A9B4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228A-F630-42A4-9129-10EC40324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240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8430AA6-1365-4747-B325-1D6B206A9B4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839228A-F630-42A4-9129-10EC40324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42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30AA6-1365-4747-B325-1D6B206A9B4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228A-F630-42A4-9129-10EC40324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30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30AA6-1365-4747-B325-1D6B206A9B4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228A-F630-42A4-9129-10EC40324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61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30AA6-1365-4747-B325-1D6B206A9B4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228A-F630-42A4-9129-10EC40324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19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30AA6-1365-4747-B325-1D6B206A9B4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228A-F630-42A4-9129-10EC40324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590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30AA6-1365-4747-B325-1D6B206A9B4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228A-F630-42A4-9129-10EC40324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992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30AA6-1365-4747-B325-1D6B206A9B4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228A-F630-42A4-9129-10EC40324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734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30AA6-1365-4747-B325-1D6B206A9B4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228A-F630-42A4-9129-10EC40324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11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8430AA6-1365-4747-B325-1D6B206A9B4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839228A-F630-42A4-9129-10EC40324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458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8430AA6-1365-4747-B325-1D6B206A9B4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839228A-F630-42A4-9129-10EC403249D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2152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8430AA6-1365-4747-B325-1D6B206A9B4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839228A-F630-42A4-9129-10EC40324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9007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30AA6-1365-4747-B325-1D6B206A9B4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228A-F630-42A4-9129-10EC40324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783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30AA6-1365-4747-B325-1D6B206A9B4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228A-F630-42A4-9129-10EC40324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819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30AA6-1365-4747-B325-1D6B206A9B4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228A-F630-42A4-9129-10EC40324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5440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8430AA6-1365-4747-B325-1D6B206A9B4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839228A-F630-42A4-9129-10EC40324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0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30AA6-1365-4747-B325-1D6B206A9B4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228A-F630-42A4-9129-10EC40324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980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86C31-C867-4F89-A379-F9019D5F1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4072" y="2227385"/>
            <a:ext cx="11443856" cy="1790998"/>
          </a:xfrm>
        </p:spPr>
        <p:txBody>
          <a:bodyPr>
            <a:noAutofit/>
          </a:bodyPr>
          <a:lstStyle/>
          <a:p>
            <a:r>
              <a:rPr lang="en-US" sz="3600" b="1" kern="0" spc="-40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Document Intelligence Platform</a:t>
            </a:r>
            <a:r>
              <a:rPr lang="en-US" sz="3600" b="1" dirty="0"/>
              <a:t>:</a:t>
            </a:r>
            <a:br>
              <a:rPr lang="en-US" sz="3600" b="1" dirty="0"/>
            </a:br>
            <a:r>
              <a:rPr lang="en-US" sz="3600" b="1" dirty="0"/>
              <a:t>Intelligent Document Extraction, Validation &amp; API Platform</a:t>
            </a:r>
            <a:br>
              <a:rPr lang="en-US" sz="3600" b="1" dirty="0"/>
            </a:br>
            <a:endParaRPr lang="en-US" sz="3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445515-5C53-4696-B50C-54B943E69EB6}"/>
              </a:ext>
            </a:extLst>
          </p:cNvPr>
          <p:cNvSpPr txBox="1"/>
          <p:nvPr/>
        </p:nvSpPr>
        <p:spPr>
          <a:xfrm>
            <a:off x="374072" y="3695218"/>
            <a:ext cx="619852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CHANDANA N V, M.Sc. Data Science</a:t>
            </a:r>
          </a:p>
        </p:txBody>
      </p:sp>
    </p:spTree>
    <p:extLst>
      <p:ext uri="{BB962C8B-B14F-4D97-AF65-F5344CB8AC3E}">
        <p14:creationId xmlns:p14="http://schemas.microsoft.com/office/powerpoint/2010/main" val="1763448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B7F1F-D6F3-41B5-AEDD-C2791D6AB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047" y="412681"/>
            <a:ext cx="8610600" cy="1293028"/>
          </a:xfrm>
        </p:spPr>
        <p:txBody>
          <a:bodyPr>
            <a:normAutofit/>
          </a:bodyPr>
          <a:lstStyle/>
          <a:p>
            <a:r>
              <a:rPr lang="en-US" sz="6000" b="1" dirty="0"/>
              <a:t>The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862247-7ED9-4C81-BDCB-9023F6E56411}"/>
              </a:ext>
            </a:extLst>
          </p:cNvPr>
          <p:cNvSpPr txBox="1"/>
          <p:nvPr/>
        </p:nvSpPr>
        <p:spPr>
          <a:xfrm rot="10800000" flipV="1">
            <a:off x="351692" y="2290797"/>
            <a:ext cx="11177955" cy="3900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Financial documents come in </a:t>
            </a:r>
            <a:r>
              <a:rPr lang="en-US" sz="2400" b="1" dirty="0"/>
              <a:t>PDF, JPG, and PNG</a:t>
            </a:r>
            <a:r>
              <a:rPr lang="en-US" sz="2400" dirty="0"/>
              <a:t> formats.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Different layouts and </a:t>
            </a:r>
            <a:r>
              <a:rPr lang="en-US" sz="2400" b="1" dirty="0"/>
              <a:t>OCR errors</a:t>
            </a:r>
            <a:r>
              <a:rPr lang="en-US" sz="2400" dirty="0"/>
              <a:t> make extraction difficult.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Manual extraction is </a:t>
            </a:r>
            <a:r>
              <a:rPr lang="en-US" sz="2400" b="1" dirty="0"/>
              <a:t>slow and inconsistent</a:t>
            </a:r>
            <a:r>
              <a:rPr lang="en-US" sz="2400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Financial data needs </a:t>
            </a:r>
            <a:r>
              <a:rPr lang="en-US" sz="2400" b="1" dirty="0"/>
              <a:t>automated validation</a:t>
            </a:r>
            <a:r>
              <a:rPr lang="en-US" sz="2400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 reusable system is needed for </a:t>
            </a:r>
            <a:r>
              <a:rPr lang="en-US" sz="2400" b="1" dirty="0"/>
              <a:t>extraction, validation, and API/dashboard access</a:t>
            </a:r>
            <a:r>
              <a:rPr lang="en-US" sz="2400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73941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B7F1F-D6F3-41B5-AEDD-C2791D6AB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2209" y="447328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US" sz="6000" b="1" dirty="0"/>
              <a:t>END-TO-END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862247-7ED9-4C81-BDCB-9023F6E56411}"/>
              </a:ext>
            </a:extLst>
          </p:cNvPr>
          <p:cNvSpPr txBox="1"/>
          <p:nvPr/>
        </p:nvSpPr>
        <p:spPr>
          <a:xfrm rot="10800000" flipV="1">
            <a:off x="3170280" y="1256657"/>
            <a:ext cx="11177955" cy="1130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kern="0" spc="-3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extracts the values; deterministic engineering verifies the numbers</a:t>
            </a: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98240D8-0300-4DA7-8B21-D30A6AFA7945}"/>
              </a:ext>
            </a:extLst>
          </p:cNvPr>
          <p:cNvSpPr/>
          <p:nvPr/>
        </p:nvSpPr>
        <p:spPr>
          <a:xfrm>
            <a:off x="558786" y="2441674"/>
            <a:ext cx="82954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CB00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</a:t>
            </a:r>
            <a:endParaRPr lang="en-US" sz="1600" dirty="0">
              <a:solidFill>
                <a:srgbClr val="CB0000"/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8AC3B1D-F4C0-468F-9616-D23036B36E0B}"/>
              </a:ext>
            </a:extLst>
          </p:cNvPr>
          <p:cNvSpPr/>
          <p:nvPr/>
        </p:nvSpPr>
        <p:spPr>
          <a:xfrm>
            <a:off x="558786" y="2827834"/>
            <a:ext cx="3538945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Upload document</a:t>
            </a:r>
            <a:endParaRPr lang="en-US" sz="1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A2359B5-C0F3-4D90-8D05-F085894DD2E9}"/>
              </a:ext>
            </a:extLst>
          </p:cNvPr>
          <p:cNvSpPr/>
          <p:nvPr/>
        </p:nvSpPr>
        <p:spPr>
          <a:xfrm>
            <a:off x="4326227" y="2441674"/>
            <a:ext cx="87022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C440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1600" dirty="0">
              <a:solidFill>
                <a:srgbClr val="C44000"/>
              </a:solidFill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16524D0-2F10-4DCA-B923-293EA7CEC0AA}"/>
              </a:ext>
            </a:extLst>
          </p:cNvPr>
          <p:cNvSpPr/>
          <p:nvPr/>
        </p:nvSpPr>
        <p:spPr>
          <a:xfrm>
            <a:off x="4326177" y="2726234"/>
            <a:ext cx="3386450" cy="19050"/>
          </a:xfrm>
          <a:prstGeom prst="rect">
            <a:avLst/>
          </a:prstGeom>
          <a:solidFill>
            <a:srgbClr val="C44000"/>
          </a:solidFill>
          <a:ln>
            <a:solidFill>
              <a:srgbClr val="C44000"/>
            </a:solidFill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6146280-A213-4039-8BC0-00DB26AA7DB6}"/>
              </a:ext>
            </a:extLst>
          </p:cNvPr>
          <p:cNvSpPr/>
          <p:nvPr/>
        </p:nvSpPr>
        <p:spPr>
          <a:xfrm>
            <a:off x="4326177" y="2827834"/>
            <a:ext cx="3386549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Validate file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D492D86-357C-4B5F-A878-500891E35A72}"/>
              </a:ext>
            </a:extLst>
          </p:cNvPr>
          <p:cNvSpPr/>
          <p:nvPr/>
        </p:nvSpPr>
        <p:spPr>
          <a:xfrm>
            <a:off x="8093865" y="2441674"/>
            <a:ext cx="87290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DE8C0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</a:t>
            </a:r>
            <a:endParaRPr lang="en-US" sz="1600" dirty="0">
              <a:solidFill>
                <a:srgbClr val="DE8C04"/>
              </a:solidFill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4143181-ED81-419D-B532-B94D47B580AB}"/>
              </a:ext>
            </a:extLst>
          </p:cNvPr>
          <p:cNvSpPr/>
          <p:nvPr/>
        </p:nvSpPr>
        <p:spPr>
          <a:xfrm>
            <a:off x="8093864" y="2726234"/>
            <a:ext cx="3538945" cy="19050"/>
          </a:xfrm>
          <a:prstGeom prst="rect">
            <a:avLst/>
          </a:prstGeom>
          <a:solidFill>
            <a:srgbClr val="DE8C04"/>
          </a:solidFill>
          <a:ln>
            <a:solidFill>
              <a:srgbClr val="DE8C04"/>
            </a:solidFill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6010129-BFFB-49E0-911A-85BB7EBD731E}"/>
              </a:ext>
            </a:extLst>
          </p:cNvPr>
          <p:cNvSpPr/>
          <p:nvPr/>
        </p:nvSpPr>
        <p:spPr>
          <a:xfrm>
            <a:off x="8093865" y="2827834"/>
            <a:ext cx="3539044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Extract text or run OCR</a:t>
            </a:r>
            <a:endParaRPr lang="en-US" sz="18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20F7628-1A41-47F1-94C1-64BAAF285D93}"/>
              </a:ext>
            </a:extLst>
          </p:cNvPr>
          <p:cNvSpPr/>
          <p:nvPr/>
        </p:nvSpPr>
        <p:spPr>
          <a:xfrm>
            <a:off x="558787" y="3644602"/>
            <a:ext cx="3386450" cy="1410097"/>
          </a:xfrm>
          <a:prstGeom prst="rect">
            <a:avLst/>
          </a:prstGeom>
          <a:solidFill>
            <a:srgbClr val="CB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CC5EE59-E435-4B32-981A-135908C1DE63}"/>
              </a:ext>
            </a:extLst>
          </p:cNvPr>
          <p:cNvSpPr/>
          <p:nvPr/>
        </p:nvSpPr>
        <p:spPr>
          <a:xfrm>
            <a:off x="787380" y="3873202"/>
            <a:ext cx="87895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7702FE0-C992-4B75-AE19-99116836F556}"/>
              </a:ext>
            </a:extLst>
          </p:cNvPr>
          <p:cNvSpPr/>
          <p:nvPr/>
        </p:nvSpPr>
        <p:spPr>
          <a:xfrm>
            <a:off x="787380" y="4157762"/>
            <a:ext cx="3081657" cy="1905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91995BB-DBE2-421A-B28F-3D48626CB167}"/>
              </a:ext>
            </a:extLst>
          </p:cNvPr>
          <p:cNvSpPr/>
          <p:nvPr/>
        </p:nvSpPr>
        <p:spPr>
          <a:xfrm>
            <a:off x="787380" y="4259362"/>
            <a:ext cx="3081756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800" dirty="0"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AI extraction into structured fields</a:t>
            </a:r>
            <a:endParaRPr lang="en-US" sz="18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05FB328-1098-40EF-8223-C2397BDF8E48}"/>
              </a:ext>
            </a:extLst>
          </p:cNvPr>
          <p:cNvSpPr/>
          <p:nvPr/>
        </p:nvSpPr>
        <p:spPr>
          <a:xfrm>
            <a:off x="4326177" y="3644602"/>
            <a:ext cx="3386549" cy="1410097"/>
          </a:xfrm>
          <a:prstGeom prst="rect">
            <a:avLst/>
          </a:prstGeom>
          <a:solidFill>
            <a:srgbClr val="C44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D967354-FE04-4CAF-A157-055CC25C7A5B}"/>
              </a:ext>
            </a:extLst>
          </p:cNvPr>
          <p:cNvSpPr/>
          <p:nvPr/>
        </p:nvSpPr>
        <p:spPr>
          <a:xfrm>
            <a:off x="4554822" y="3873202"/>
            <a:ext cx="86804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C5404E4-C390-4A2A-825D-C40C45017EA1}"/>
              </a:ext>
            </a:extLst>
          </p:cNvPr>
          <p:cNvSpPr/>
          <p:nvPr/>
        </p:nvSpPr>
        <p:spPr>
          <a:xfrm>
            <a:off x="4554822" y="4157762"/>
            <a:ext cx="2929261" cy="1905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F59E4FD-6D12-4589-889E-86A56F2E32AF}"/>
              </a:ext>
            </a:extLst>
          </p:cNvPr>
          <p:cNvSpPr/>
          <p:nvPr/>
        </p:nvSpPr>
        <p:spPr>
          <a:xfrm>
            <a:off x="4554822" y="4259362"/>
            <a:ext cx="2929360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800" dirty="0"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Financial validation</a:t>
            </a:r>
            <a:endParaRPr lang="en-US" sz="18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6439C58-9106-4002-AB62-6E6F9C3DA3D9}"/>
              </a:ext>
            </a:extLst>
          </p:cNvPr>
          <p:cNvSpPr/>
          <p:nvPr/>
        </p:nvSpPr>
        <p:spPr>
          <a:xfrm>
            <a:off x="8093765" y="3644602"/>
            <a:ext cx="3539044" cy="1410097"/>
          </a:xfrm>
          <a:prstGeom prst="rect">
            <a:avLst/>
          </a:prstGeom>
          <a:solidFill>
            <a:srgbClr val="DE8C04"/>
          </a:solidFill>
          <a:ln/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41B34CE-4DCC-4E27-ABFE-F1877C851579}"/>
              </a:ext>
            </a:extLst>
          </p:cNvPr>
          <p:cNvSpPr/>
          <p:nvPr/>
        </p:nvSpPr>
        <p:spPr>
          <a:xfrm>
            <a:off x="8322459" y="3873202"/>
            <a:ext cx="87359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06</a:t>
            </a:r>
            <a:endParaRPr lang="en-US" sz="16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2C5C4ED-A761-443C-964B-82CEDDEDB571}"/>
              </a:ext>
            </a:extLst>
          </p:cNvPr>
          <p:cNvSpPr/>
          <p:nvPr/>
        </p:nvSpPr>
        <p:spPr>
          <a:xfrm>
            <a:off x="8322459" y="4157762"/>
            <a:ext cx="3081756" cy="1905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26A760B-0258-48DF-999F-DFC7FEFDD9CB}"/>
              </a:ext>
            </a:extLst>
          </p:cNvPr>
          <p:cNvSpPr/>
          <p:nvPr/>
        </p:nvSpPr>
        <p:spPr>
          <a:xfrm>
            <a:off x="8322459" y="4259362"/>
            <a:ext cx="3081856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800" dirty="0"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JSON and API response</a:t>
            </a:r>
            <a:endParaRPr lang="en-US" sz="1800" dirty="0"/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3F6955CE-B01C-4B4D-B5B6-EAD6B8EF42B8}"/>
              </a:ext>
            </a:extLst>
          </p:cNvPr>
          <p:cNvSpPr/>
          <p:nvPr/>
        </p:nvSpPr>
        <p:spPr>
          <a:xfrm>
            <a:off x="558786" y="2726234"/>
            <a:ext cx="3386450" cy="19050"/>
          </a:xfrm>
          <a:prstGeom prst="rect">
            <a:avLst/>
          </a:prstGeom>
          <a:solidFill>
            <a:srgbClr val="CB0000"/>
          </a:solidFill>
          <a:ln>
            <a:solidFill>
              <a:srgbClr val="CB0000"/>
            </a:solidFill>
          </a:ln>
        </p:spPr>
      </p:sp>
    </p:spTree>
    <p:extLst>
      <p:ext uri="{BB962C8B-B14F-4D97-AF65-F5344CB8AC3E}">
        <p14:creationId xmlns:p14="http://schemas.microsoft.com/office/powerpoint/2010/main" val="1198605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B7F1F-D6F3-41B5-AEDD-C2791D6AB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047" y="41268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US" sz="6000" b="1" dirty="0"/>
              <a:t>SUPPORTED DOCUMENTS </a:t>
            </a:r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EE0C411A-8850-4828-93B6-5EBE447BC2B1}"/>
              </a:ext>
            </a:extLst>
          </p:cNvPr>
          <p:cNvSpPr/>
          <p:nvPr/>
        </p:nvSpPr>
        <p:spPr>
          <a:xfrm>
            <a:off x="558938" y="2347346"/>
            <a:ext cx="5537061" cy="1880989"/>
          </a:xfrm>
          <a:custGeom>
            <a:avLst/>
            <a:gdLst/>
            <a:ahLst/>
            <a:cxnLst/>
            <a:rect l="l" t="t" r="r" b="b"/>
            <a:pathLst>
              <a:path w="5537061" h="1880989">
                <a:moveTo>
                  <a:pt x="9525" y="0"/>
                </a:moveTo>
                <a:lnTo>
                  <a:pt x="5537061" y="0"/>
                </a:lnTo>
                <a:lnTo>
                  <a:pt x="5537061" y="1880989"/>
                </a:lnTo>
                <a:lnTo>
                  <a:pt x="0" y="1880989"/>
                </a:lnTo>
                <a:lnTo>
                  <a:pt x="0" y="9525"/>
                </a:lnTo>
                <a:arcTo wR="9525" hR="9525" stAng="10800000" swAng="5400000"/>
                <a:close/>
              </a:path>
            </a:pathLst>
          </a:custGeom>
          <a:gradFill flip="none" rotWithShape="1">
            <a:gsLst>
              <a:gs pos="0">
                <a:srgbClr val="B50000">
                  <a:shade val="30000"/>
                  <a:satMod val="115000"/>
                </a:srgbClr>
              </a:gs>
              <a:gs pos="50000">
                <a:srgbClr val="B50000">
                  <a:shade val="67500"/>
                  <a:satMod val="115000"/>
                </a:srgbClr>
              </a:gs>
              <a:gs pos="100000">
                <a:srgbClr val="B50000">
                  <a:shade val="100000"/>
                  <a:satMod val="115000"/>
                </a:srgbClr>
              </a:gs>
            </a:gsLst>
            <a:lin ang="16200000" scaled="1"/>
            <a:tileRect/>
          </a:gradFill>
          <a:ln/>
        </p:spPr>
      </p:sp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AE311C5A-8EA5-4D9C-97DA-1DB7BE82D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32" y="2525146"/>
            <a:ext cx="406390" cy="406400"/>
          </a:xfrm>
          <a:prstGeom prst="rect">
            <a:avLst/>
          </a:prstGeom>
        </p:spPr>
      </p:pic>
      <p:sp>
        <p:nvSpPr>
          <p:cNvPr id="27" name="Text 4">
            <a:extLst>
              <a:ext uri="{FF2B5EF4-FFF2-40B4-BE49-F238E27FC236}">
                <a16:creationId xmlns:a16="http://schemas.microsoft.com/office/drawing/2014/main" id="{90E796FD-169E-4D43-87D0-9FB43B5453B0}"/>
              </a:ext>
            </a:extLst>
          </p:cNvPr>
          <p:cNvSpPr/>
          <p:nvPr/>
        </p:nvSpPr>
        <p:spPr>
          <a:xfrm>
            <a:off x="787532" y="3052196"/>
            <a:ext cx="5079873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800" dirty="0"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Invoice</a:t>
            </a:r>
            <a:endParaRPr lang="en-US" sz="1800" dirty="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35320717-C08E-4FF9-92CD-8153A6350A5E}"/>
              </a:ext>
            </a:extLst>
          </p:cNvPr>
          <p:cNvSpPr/>
          <p:nvPr/>
        </p:nvSpPr>
        <p:spPr>
          <a:xfrm>
            <a:off x="787532" y="3481614"/>
            <a:ext cx="5079873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latin typeface="Inter" pitchFamily="34" charset="0"/>
                <a:ea typeface="Inter" pitchFamily="34" charset="-122"/>
                <a:cs typeface="Inter" pitchFamily="34" charset="-120"/>
              </a:rPr>
              <a:t>Vendor, dates, line items, subtotal, tax, discount, total</a:t>
            </a:r>
            <a:endParaRPr lang="en-US" sz="1600" dirty="0"/>
          </a:p>
        </p:txBody>
      </p:sp>
      <p:sp>
        <p:nvSpPr>
          <p:cNvPr id="29" name="Shape 6">
            <a:extLst>
              <a:ext uri="{FF2B5EF4-FFF2-40B4-BE49-F238E27FC236}">
                <a16:creationId xmlns:a16="http://schemas.microsoft.com/office/drawing/2014/main" id="{D521E05B-854B-4813-8B0B-6BE1EDFA557A}"/>
              </a:ext>
            </a:extLst>
          </p:cNvPr>
          <p:cNvSpPr/>
          <p:nvPr/>
        </p:nvSpPr>
        <p:spPr>
          <a:xfrm>
            <a:off x="6096000" y="2347346"/>
            <a:ext cx="5537061" cy="1880989"/>
          </a:xfrm>
          <a:custGeom>
            <a:avLst/>
            <a:gdLst/>
            <a:ahLst/>
            <a:cxnLst/>
            <a:rect l="l" t="t" r="r" b="b"/>
            <a:pathLst>
              <a:path w="5537061" h="1880989">
                <a:moveTo>
                  <a:pt x="0" y="0"/>
                </a:moveTo>
                <a:lnTo>
                  <a:pt x="5527537" y="0"/>
                </a:lnTo>
                <a:arcTo wR="9525" hR="9525" stAng="16200000" swAng="5400000"/>
                <a:lnTo>
                  <a:pt x="5537061" y="1880989"/>
                </a:lnTo>
                <a:lnTo>
                  <a:pt x="0" y="188098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B50000">
                  <a:shade val="30000"/>
                  <a:satMod val="115000"/>
                </a:srgbClr>
              </a:gs>
              <a:gs pos="50000">
                <a:srgbClr val="B50000">
                  <a:shade val="67500"/>
                  <a:satMod val="115000"/>
                </a:srgbClr>
              </a:gs>
              <a:gs pos="100000">
                <a:srgbClr val="B50000">
                  <a:shade val="100000"/>
                  <a:satMod val="115000"/>
                </a:srgbClr>
              </a:gs>
            </a:gsLst>
            <a:lin ang="16200000" scaled="1"/>
            <a:tileRect/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1" descr="preencoded.png">
            <a:extLst>
              <a:ext uri="{FF2B5EF4-FFF2-40B4-BE49-F238E27FC236}">
                <a16:creationId xmlns:a16="http://schemas.microsoft.com/office/drawing/2014/main" id="{B735C461-F133-445C-B96F-427C500EE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594" y="2525146"/>
            <a:ext cx="406390" cy="406400"/>
          </a:xfrm>
          <a:prstGeom prst="rect">
            <a:avLst/>
          </a:prstGeom>
        </p:spPr>
      </p:pic>
      <p:sp>
        <p:nvSpPr>
          <p:cNvPr id="31" name="Text 7">
            <a:extLst>
              <a:ext uri="{FF2B5EF4-FFF2-40B4-BE49-F238E27FC236}">
                <a16:creationId xmlns:a16="http://schemas.microsoft.com/office/drawing/2014/main" id="{59BE0748-010F-4C5B-BD7A-6946A34D4ECE}"/>
              </a:ext>
            </a:extLst>
          </p:cNvPr>
          <p:cNvSpPr/>
          <p:nvPr/>
        </p:nvSpPr>
        <p:spPr>
          <a:xfrm>
            <a:off x="6324594" y="3052196"/>
            <a:ext cx="5079873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800" dirty="0"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Balance Sheet</a:t>
            </a:r>
            <a:endParaRPr lang="en-US" sz="1800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2B8DEEE0-7D3F-4EDC-9F90-A1990B91C544}"/>
              </a:ext>
            </a:extLst>
          </p:cNvPr>
          <p:cNvSpPr/>
          <p:nvPr/>
        </p:nvSpPr>
        <p:spPr>
          <a:xfrm>
            <a:off x="6324594" y="3481614"/>
            <a:ext cx="568945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latin typeface="Inter" pitchFamily="34" charset="0"/>
                <a:ea typeface="Inter" pitchFamily="34" charset="-122"/>
                <a:cs typeface="Inter" pitchFamily="34" charset="-120"/>
              </a:rPr>
              <a:t>Assets, liabilities, and equity</a:t>
            </a:r>
            <a:endParaRPr lang="en-US" sz="1600" dirty="0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1AC0807E-6600-4318-962B-8FAE1C54A17F}"/>
              </a:ext>
            </a:extLst>
          </p:cNvPr>
          <p:cNvSpPr/>
          <p:nvPr/>
        </p:nvSpPr>
        <p:spPr>
          <a:xfrm>
            <a:off x="558938" y="4228335"/>
            <a:ext cx="5537061" cy="1596529"/>
          </a:xfrm>
          <a:custGeom>
            <a:avLst/>
            <a:gdLst/>
            <a:ahLst/>
            <a:cxnLst/>
            <a:rect l="l" t="t" r="r" b="b"/>
            <a:pathLst>
              <a:path w="5537061" h="1596529">
                <a:moveTo>
                  <a:pt x="0" y="0"/>
                </a:moveTo>
                <a:lnTo>
                  <a:pt x="5537061" y="0"/>
                </a:lnTo>
                <a:lnTo>
                  <a:pt x="5537061" y="1596529"/>
                </a:lnTo>
                <a:lnTo>
                  <a:pt x="9525" y="1596529"/>
                </a:lnTo>
                <a:arcTo wR="9525" hR="9525" stAng="5400000" swAng="5400000"/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B50000">
                  <a:shade val="30000"/>
                  <a:satMod val="115000"/>
                </a:srgbClr>
              </a:gs>
              <a:gs pos="50000">
                <a:srgbClr val="B50000">
                  <a:shade val="67500"/>
                  <a:satMod val="115000"/>
                </a:srgbClr>
              </a:gs>
              <a:gs pos="100000">
                <a:srgbClr val="B50000">
                  <a:shade val="100000"/>
                  <a:satMod val="115000"/>
                </a:srgbClr>
              </a:gs>
            </a:gsLst>
            <a:lin ang="5400000" scaled="1"/>
            <a:tileRect/>
          </a:gradFill>
          <a:ln/>
        </p:spPr>
      </p:sp>
      <p:pic>
        <p:nvPicPr>
          <p:cNvPr id="34" name="Image 2" descr="preencoded.png">
            <a:extLst>
              <a:ext uri="{FF2B5EF4-FFF2-40B4-BE49-F238E27FC236}">
                <a16:creationId xmlns:a16="http://schemas.microsoft.com/office/drawing/2014/main" id="{CE84AF60-E0F4-451F-9C7E-34E5F6259B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532" y="4406135"/>
            <a:ext cx="406390" cy="406400"/>
          </a:xfrm>
          <a:prstGeom prst="rect">
            <a:avLst/>
          </a:prstGeom>
        </p:spPr>
      </p:pic>
      <p:sp>
        <p:nvSpPr>
          <p:cNvPr id="35" name="Text 10">
            <a:extLst>
              <a:ext uri="{FF2B5EF4-FFF2-40B4-BE49-F238E27FC236}">
                <a16:creationId xmlns:a16="http://schemas.microsoft.com/office/drawing/2014/main" id="{088CA840-DF07-4DB3-9236-C1A175E9EAAF}"/>
              </a:ext>
            </a:extLst>
          </p:cNvPr>
          <p:cNvSpPr/>
          <p:nvPr/>
        </p:nvSpPr>
        <p:spPr>
          <a:xfrm>
            <a:off x="787532" y="4933185"/>
            <a:ext cx="5079873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800" dirty="0"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Profit &amp; Loss</a:t>
            </a:r>
            <a:endParaRPr lang="en-US" sz="1800" dirty="0"/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5E5D65F4-D6C5-47C6-ABE1-06BCE6B168FC}"/>
              </a:ext>
            </a:extLst>
          </p:cNvPr>
          <p:cNvSpPr/>
          <p:nvPr/>
        </p:nvSpPr>
        <p:spPr>
          <a:xfrm>
            <a:off x="787532" y="5362604"/>
            <a:ext cx="568945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latin typeface="Inter" pitchFamily="34" charset="0"/>
                <a:ea typeface="Inter" pitchFamily="34" charset="-122"/>
                <a:cs typeface="Inter" pitchFamily="34" charset="-120"/>
              </a:rPr>
              <a:t>Income, expenditure, and net profit</a:t>
            </a:r>
            <a:endParaRPr lang="en-US" sz="1600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C96E1DDB-D9BA-4FB7-9650-9C0284430CBC}"/>
              </a:ext>
            </a:extLst>
          </p:cNvPr>
          <p:cNvSpPr/>
          <p:nvPr/>
        </p:nvSpPr>
        <p:spPr>
          <a:xfrm>
            <a:off x="6096000" y="4228335"/>
            <a:ext cx="5537061" cy="1596529"/>
          </a:xfrm>
          <a:custGeom>
            <a:avLst/>
            <a:gdLst/>
            <a:ahLst/>
            <a:cxnLst/>
            <a:rect l="l" t="t" r="r" b="b"/>
            <a:pathLst>
              <a:path w="5537061" h="1596529">
                <a:moveTo>
                  <a:pt x="0" y="0"/>
                </a:moveTo>
                <a:lnTo>
                  <a:pt x="5537061" y="0"/>
                </a:lnTo>
                <a:lnTo>
                  <a:pt x="5537061" y="1587004"/>
                </a:lnTo>
                <a:arcTo wR="9525" hR="9525" stAng="0" swAng="5400000"/>
                <a:lnTo>
                  <a:pt x="0" y="159652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B50000">
                  <a:shade val="30000"/>
                  <a:satMod val="115000"/>
                </a:srgbClr>
              </a:gs>
              <a:gs pos="50000">
                <a:srgbClr val="B50000">
                  <a:shade val="67500"/>
                  <a:satMod val="115000"/>
                </a:srgbClr>
              </a:gs>
              <a:gs pos="100000">
                <a:srgbClr val="B50000">
                  <a:shade val="100000"/>
                  <a:satMod val="115000"/>
                </a:srgbClr>
              </a:gs>
            </a:gsLst>
            <a:lin ang="5400000" scaled="1"/>
            <a:tileRect/>
          </a:gradFill>
          <a:ln/>
        </p:spPr>
      </p:sp>
      <p:pic>
        <p:nvPicPr>
          <p:cNvPr id="38" name="Image 3" descr="preencoded.png">
            <a:extLst>
              <a:ext uri="{FF2B5EF4-FFF2-40B4-BE49-F238E27FC236}">
                <a16:creationId xmlns:a16="http://schemas.microsoft.com/office/drawing/2014/main" id="{73AE3C3A-89B2-40B2-A368-1759F825F4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594" y="4406135"/>
            <a:ext cx="406390" cy="406400"/>
          </a:xfrm>
          <a:prstGeom prst="rect">
            <a:avLst/>
          </a:prstGeom>
        </p:spPr>
      </p:pic>
      <p:sp>
        <p:nvSpPr>
          <p:cNvPr id="39" name="Text 13">
            <a:extLst>
              <a:ext uri="{FF2B5EF4-FFF2-40B4-BE49-F238E27FC236}">
                <a16:creationId xmlns:a16="http://schemas.microsoft.com/office/drawing/2014/main" id="{45F02E5E-261A-46AA-8321-1C5CCCBA6261}"/>
              </a:ext>
            </a:extLst>
          </p:cNvPr>
          <p:cNvSpPr/>
          <p:nvPr/>
        </p:nvSpPr>
        <p:spPr>
          <a:xfrm>
            <a:off x="6324594" y="4933185"/>
            <a:ext cx="5079873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800" dirty="0"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Cash Flow Statement</a:t>
            </a:r>
            <a:endParaRPr lang="en-US" sz="1800" dirty="0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1913DFB4-F306-4E5C-8F36-880286A1A72D}"/>
              </a:ext>
            </a:extLst>
          </p:cNvPr>
          <p:cNvSpPr/>
          <p:nvPr/>
        </p:nvSpPr>
        <p:spPr>
          <a:xfrm>
            <a:off x="6324594" y="5362604"/>
            <a:ext cx="568945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latin typeface="Inter" pitchFamily="34" charset="0"/>
                <a:ea typeface="Inter" pitchFamily="34" charset="-122"/>
                <a:cs typeface="Inter" pitchFamily="34" charset="-120"/>
              </a:rPr>
              <a:t>Opening cash, inflows, outflows, and closing cash</a:t>
            </a:r>
            <a:endParaRPr lang="en-US" sz="1600" dirty="0"/>
          </a:p>
        </p:txBody>
      </p:sp>
      <p:sp>
        <p:nvSpPr>
          <p:cNvPr id="43" name="Shape 17">
            <a:extLst>
              <a:ext uri="{FF2B5EF4-FFF2-40B4-BE49-F238E27FC236}">
                <a16:creationId xmlns:a16="http://schemas.microsoft.com/office/drawing/2014/main" id="{8E7BD647-0505-4D57-BC80-E269E60AB64A}"/>
              </a:ext>
            </a:extLst>
          </p:cNvPr>
          <p:cNvSpPr/>
          <p:nvPr/>
        </p:nvSpPr>
        <p:spPr>
          <a:xfrm>
            <a:off x="6080125" y="2347346"/>
            <a:ext cx="31749" cy="1880989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44" name="Shape 18">
            <a:extLst>
              <a:ext uri="{FF2B5EF4-FFF2-40B4-BE49-F238E27FC236}">
                <a16:creationId xmlns:a16="http://schemas.microsoft.com/office/drawing/2014/main" id="{FA374B0C-7C5D-46B6-95BC-AA66C57963D0}"/>
              </a:ext>
            </a:extLst>
          </p:cNvPr>
          <p:cNvSpPr/>
          <p:nvPr/>
        </p:nvSpPr>
        <p:spPr>
          <a:xfrm>
            <a:off x="558938" y="4212460"/>
            <a:ext cx="5537061" cy="3175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45" name="Shape 19">
            <a:extLst>
              <a:ext uri="{FF2B5EF4-FFF2-40B4-BE49-F238E27FC236}">
                <a16:creationId xmlns:a16="http://schemas.microsoft.com/office/drawing/2014/main" id="{277AE8E2-72DA-47BD-A0CA-C37F90D08391}"/>
              </a:ext>
            </a:extLst>
          </p:cNvPr>
          <p:cNvSpPr/>
          <p:nvPr/>
        </p:nvSpPr>
        <p:spPr>
          <a:xfrm>
            <a:off x="6080125" y="4228335"/>
            <a:ext cx="31749" cy="1596529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46" name="Shape 20">
            <a:extLst>
              <a:ext uri="{FF2B5EF4-FFF2-40B4-BE49-F238E27FC236}">
                <a16:creationId xmlns:a16="http://schemas.microsoft.com/office/drawing/2014/main" id="{E0162287-EB4D-4261-837F-C260844A3875}"/>
              </a:ext>
            </a:extLst>
          </p:cNvPr>
          <p:cNvSpPr/>
          <p:nvPr/>
        </p:nvSpPr>
        <p:spPr>
          <a:xfrm>
            <a:off x="6096000" y="4212460"/>
            <a:ext cx="5537061" cy="3175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66" name="Text 2">
            <a:extLst>
              <a:ext uri="{FF2B5EF4-FFF2-40B4-BE49-F238E27FC236}">
                <a16:creationId xmlns:a16="http://schemas.microsoft.com/office/drawing/2014/main" id="{7F1994E5-2972-4A07-8E5C-C20A0A5BB072}"/>
              </a:ext>
            </a:extLst>
          </p:cNvPr>
          <p:cNvSpPr/>
          <p:nvPr/>
        </p:nvSpPr>
        <p:spPr>
          <a:xfrm>
            <a:off x="3509638" y="6045457"/>
            <a:ext cx="5140974" cy="329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four document types are supported by the platform.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64446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B7F1F-D6F3-41B5-AEDD-C2791D6AB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047" y="429165"/>
            <a:ext cx="8610600" cy="1293028"/>
          </a:xfrm>
        </p:spPr>
        <p:txBody>
          <a:bodyPr>
            <a:noAutofit/>
          </a:bodyPr>
          <a:lstStyle/>
          <a:p>
            <a:r>
              <a:rPr lang="en-US" sz="6000" b="1" dirty="0"/>
              <a:t>DOCUMENT PROCESSING &amp; OCR</a:t>
            </a: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D2EF7AAC-A5C0-4C8D-A267-FCE665FCA963}"/>
              </a:ext>
            </a:extLst>
          </p:cNvPr>
          <p:cNvSpPr/>
          <p:nvPr/>
        </p:nvSpPr>
        <p:spPr>
          <a:xfrm>
            <a:off x="1738436" y="2898220"/>
            <a:ext cx="2057349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Native PDFs</a:t>
            </a:r>
            <a:endParaRPr lang="en-US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7DCB7E40-044B-430E-A7A8-5DBA9160269A}"/>
              </a:ext>
            </a:extLst>
          </p:cNvPr>
          <p:cNvSpPr/>
          <p:nvPr/>
        </p:nvSpPr>
        <p:spPr>
          <a:xfrm>
            <a:off x="1738436" y="3327639"/>
            <a:ext cx="2057349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pdftotext for direct text extraction</a:t>
            </a:r>
            <a:endParaRPr lang="en-US" sz="16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7858C21B-D13D-49E5-B171-62928ED20F39}"/>
              </a:ext>
            </a:extLst>
          </p:cNvPr>
          <p:cNvSpPr/>
          <p:nvPr/>
        </p:nvSpPr>
        <p:spPr>
          <a:xfrm>
            <a:off x="4641772" y="2446879"/>
            <a:ext cx="87022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C440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2400" dirty="0">
              <a:solidFill>
                <a:srgbClr val="C44000"/>
              </a:solidFill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12F75D75-55CB-4E61-9740-F346ADD537B6}"/>
              </a:ext>
            </a:extLst>
          </p:cNvPr>
          <p:cNvSpPr/>
          <p:nvPr/>
        </p:nvSpPr>
        <p:spPr>
          <a:xfrm>
            <a:off x="4644451" y="2879749"/>
            <a:ext cx="2057349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Scanned PDFs and images</a:t>
            </a:r>
            <a:endParaRPr lang="en-US" sz="18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1DCFFCF-26F9-4933-B29F-4B5BD0BB53C0}"/>
              </a:ext>
            </a:extLst>
          </p:cNvPr>
          <p:cNvSpPr/>
          <p:nvPr/>
        </p:nvSpPr>
        <p:spPr>
          <a:xfrm>
            <a:off x="4644451" y="3592537"/>
            <a:ext cx="2666933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Tesseract OCR</a:t>
            </a:r>
            <a:endParaRPr lang="en-US" sz="16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6C04441F-34B1-4312-8CF9-07F8C22E159C}"/>
              </a:ext>
            </a:extLst>
          </p:cNvPr>
          <p:cNvSpPr/>
          <p:nvPr/>
        </p:nvSpPr>
        <p:spPr>
          <a:xfrm>
            <a:off x="7559027" y="3165847"/>
            <a:ext cx="2057448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pdftoppm renders pages for image-based processing</a:t>
            </a:r>
            <a:endParaRPr lang="en-US" sz="1600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5FBC5AA9-8F55-4B73-9E51-A7A30DCF70F9}"/>
              </a:ext>
            </a:extLst>
          </p:cNvPr>
          <p:cNvSpPr/>
          <p:nvPr/>
        </p:nvSpPr>
        <p:spPr>
          <a:xfrm>
            <a:off x="7559027" y="2465766"/>
            <a:ext cx="87290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DE8C0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</a:t>
            </a:r>
            <a:endParaRPr lang="en-US" sz="2400" dirty="0">
              <a:solidFill>
                <a:srgbClr val="DE8C04"/>
              </a:solidFill>
            </a:endParaRPr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B4693B8C-9244-4C92-8643-CA35B190CBCD}"/>
              </a:ext>
            </a:extLst>
          </p:cNvPr>
          <p:cNvSpPr/>
          <p:nvPr/>
        </p:nvSpPr>
        <p:spPr>
          <a:xfrm>
            <a:off x="1738436" y="2450467"/>
            <a:ext cx="82954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DF00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</a:t>
            </a:r>
            <a:endParaRPr lang="en-US" sz="2400" dirty="0">
              <a:solidFill>
                <a:srgbClr val="DF0000"/>
              </a:solidFill>
            </a:endParaRPr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750F3BC8-7354-4AF0-854C-C534FF31F72B}"/>
              </a:ext>
            </a:extLst>
          </p:cNvPr>
          <p:cNvSpPr/>
          <p:nvPr/>
        </p:nvSpPr>
        <p:spPr>
          <a:xfrm flipV="1">
            <a:off x="1724517" y="2796130"/>
            <a:ext cx="2441235" cy="45719"/>
          </a:xfrm>
          <a:prstGeom prst="rect">
            <a:avLst/>
          </a:prstGeom>
          <a:solidFill>
            <a:srgbClr val="D30908"/>
          </a:solidFill>
          <a:ln/>
        </p:spPr>
      </p:sp>
      <p:sp>
        <p:nvSpPr>
          <p:cNvPr id="42" name="Shape 5">
            <a:extLst>
              <a:ext uri="{FF2B5EF4-FFF2-40B4-BE49-F238E27FC236}">
                <a16:creationId xmlns:a16="http://schemas.microsoft.com/office/drawing/2014/main" id="{87D14649-FAA5-4907-B6C6-968071F9FA16}"/>
              </a:ext>
            </a:extLst>
          </p:cNvPr>
          <p:cNvSpPr/>
          <p:nvPr/>
        </p:nvSpPr>
        <p:spPr>
          <a:xfrm flipV="1">
            <a:off x="4641772" y="2796129"/>
            <a:ext cx="2441235" cy="45719"/>
          </a:xfrm>
          <a:prstGeom prst="rect">
            <a:avLst/>
          </a:prstGeom>
          <a:solidFill>
            <a:srgbClr val="C44000"/>
          </a:solidFill>
          <a:ln/>
        </p:spPr>
      </p:sp>
      <p:sp>
        <p:nvSpPr>
          <p:cNvPr id="43" name="Shape 5">
            <a:extLst>
              <a:ext uri="{FF2B5EF4-FFF2-40B4-BE49-F238E27FC236}">
                <a16:creationId xmlns:a16="http://schemas.microsoft.com/office/drawing/2014/main" id="{5E063F65-3F58-4C49-9F85-C3B28B9E560C}"/>
              </a:ext>
            </a:extLst>
          </p:cNvPr>
          <p:cNvSpPr/>
          <p:nvPr/>
        </p:nvSpPr>
        <p:spPr>
          <a:xfrm flipV="1">
            <a:off x="7559027" y="2810650"/>
            <a:ext cx="2441235" cy="45719"/>
          </a:xfrm>
          <a:prstGeom prst="rect">
            <a:avLst/>
          </a:prstGeom>
          <a:solidFill>
            <a:srgbClr val="DE8C04"/>
          </a:solidFill>
          <a:ln/>
        </p:spPr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B69D00FC-F5D6-4188-A31C-10206114C728}"/>
              </a:ext>
            </a:extLst>
          </p:cNvPr>
          <p:cNvSpPr/>
          <p:nvPr/>
        </p:nvSpPr>
        <p:spPr>
          <a:xfrm>
            <a:off x="7559027" y="2898220"/>
            <a:ext cx="2057448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PDF pages</a:t>
            </a:r>
            <a:endParaRPr lang="en-US" sz="18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CD4805E-5AC0-42A5-A641-CA032187C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" name="Text 8">
            <a:extLst>
              <a:ext uri="{FF2B5EF4-FFF2-40B4-BE49-F238E27FC236}">
                <a16:creationId xmlns:a16="http://schemas.microsoft.com/office/drawing/2014/main" id="{D9EC64C5-0565-4D86-B956-29146C3798E0}"/>
              </a:ext>
            </a:extLst>
          </p:cNvPr>
          <p:cNvSpPr/>
          <p:nvPr/>
        </p:nvSpPr>
        <p:spPr>
          <a:xfrm>
            <a:off x="3073442" y="4416840"/>
            <a:ext cx="87022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C440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04</a:t>
            </a:r>
            <a:endParaRPr lang="en-US" sz="2400" dirty="0">
              <a:solidFill>
                <a:srgbClr val="C44000"/>
              </a:solidFill>
            </a:endParaRPr>
          </a:p>
        </p:txBody>
      </p:sp>
      <p:sp>
        <p:nvSpPr>
          <p:cNvPr id="52" name="Text 10">
            <a:extLst>
              <a:ext uri="{FF2B5EF4-FFF2-40B4-BE49-F238E27FC236}">
                <a16:creationId xmlns:a16="http://schemas.microsoft.com/office/drawing/2014/main" id="{B26FBAA3-8445-4543-A184-183601C01CDB}"/>
              </a:ext>
            </a:extLst>
          </p:cNvPr>
          <p:cNvSpPr/>
          <p:nvPr/>
        </p:nvSpPr>
        <p:spPr>
          <a:xfrm>
            <a:off x="3073442" y="4848441"/>
            <a:ext cx="2057349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Spatial Evidence </a:t>
            </a:r>
            <a:endParaRPr lang="en-US" sz="1800" dirty="0"/>
          </a:p>
        </p:txBody>
      </p:sp>
      <p:sp>
        <p:nvSpPr>
          <p:cNvPr id="53" name="Text 11">
            <a:extLst>
              <a:ext uri="{FF2B5EF4-FFF2-40B4-BE49-F238E27FC236}">
                <a16:creationId xmlns:a16="http://schemas.microsoft.com/office/drawing/2014/main" id="{EF25EB80-B7DE-44F8-8C9A-DD4DFF3BB09C}"/>
              </a:ext>
            </a:extLst>
          </p:cNvPr>
          <p:cNvSpPr/>
          <p:nvPr/>
        </p:nvSpPr>
        <p:spPr>
          <a:xfrm>
            <a:off x="3076121" y="5190749"/>
            <a:ext cx="2435877" cy="656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Inter" pitchFamily="34" charset="0"/>
                <a:ea typeface="Inter" pitchFamily="34" charset="-122"/>
              </a:rPr>
              <a:t>Word-level bounding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Inter" pitchFamily="34" charset="0"/>
                <a:ea typeface="Inter" pitchFamily="34" charset="-122"/>
              </a:rPr>
              <a:t>boxes preserve text 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Inter" pitchFamily="34" charset="0"/>
                <a:ea typeface="Inter" pitchFamily="34" charset="-122"/>
              </a:rPr>
              <a:t>position</a:t>
            </a:r>
            <a:endParaRPr lang="en-US" sz="1600" dirty="0"/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08E13BEF-BA6C-4D0F-80A0-F2C84EAFB19D}"/>
              </a:ext>
            </a:extLst>
          </p:cNvPr>
          <p:cNvSpPr/>
          <p:nvPr/>
        </p:nvSpPr>
        <p:spPr>
          <a:xfrm>
            <a:off x="5990697" y="5135808"/>
            <a:ext cx="2057448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Y-axis row construction preserves table structure </a:t>
            </a:r>
            <a:endParaRPr lang="en-US" sz="1600" dirty="0"/>
          </a:p>
        </p:txBody>
      </p:sp>
      <p:sp>
        <p:nvSpPr>
          <p:cNvPr id="55" name="Text 12">
            <a:extLst>
              <a:ext uri="{FF2B5EF4-FFF2-40B4-BE49-F238E27FC236}">
                <a16:creationId xmlns:a16="http://schemas.microsoft.com/office/drawing/2014/main" id="{525E2AC0-0586-4412-ADD8-354FB5E323FF}"/>
              </a:ext>
            </a:extLst>
          </p:cNvPr>
          <p:cNvSpPr/>
          <p:nvPr/>
        </p:nvSpPr>
        <p:spPr>
          <a:xfrm>
            <a:off x="5990697" y="4435181"/>
            <a:ext cx="87290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DE8C0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05</a:t>
            </a:r>
            <a:endParaRPr lang="en-US" sz="2400" dirty="0">
              <a:solidFill>
                <a:srgbClr val="DE8C04"/>
              </a:solidFill>
            </a:endParaRPr>
          </a:p>
        </p:txBody>
      </p:sp>
      <p:sp>
        <p:nvSpPr>
          <p:cNvPr id="56" name="Shape 5">
            <a:extLst>
              <a:ext uri="{FF2B5EF4-FFF2-40B4-BE49-F238E27FC236}">
                <a16:creationId xmlns:a16="http://schemas.microsoft.com/office/drawing/2014/main" id="{F30990EB-EFAE-4800-94D4-8DFD60B4622B}"/>
              </a:ext>
            </a:extLst>
          </p:cNvPr>
          <p:cNvSpPr/>
          <p:nvPr/>
        </p:nvSpPr>
        <p:spPr>
          <a:xfrm flipV="1">
            <a:off x="3073442" y="4766090"/>
            <a:ext cx="2441235" cy="45719"/>
          </a:xfrm>
          <a:prstGeom prst="rect">
            <a:avLst/>
          </a:prstGeom>
          <a:solidFill>
            <a:srgbClr val="C44000"/>
          </a:solidFill>
          <a:ln/>
        </p:spPr>
      </p:sp>
      <p:sp>
        <p:nvSpPr>
          <p:cNvPr id="57" name="Shape 5">
            <a:extLst>
              <a:ext uri="{FF2B5EF4-FFF2-40B4-BE49-F238E27FC236}">
                <a16:creationId xmlns:a16="http://schemas.microsoft.com/office/drawing/2014/main" id="{1B7779A7-BB19-48EE-A90B-0FCD36F2695C}"/>
              </a:ext>
            </a:extLst>
          </p:cNvPr>
          <p:cNvSpPr/>
          <p:nvPr/>
        </p:nvSpPr>
        <p:spPr>
          <a:xfrm flipV="1">
            <a:off x="5990697" y="4780611"/>
            <a:ext cx="2441235" cy="45719"/>
          </a:xfrm>
          <a:prstGeom prst="rect">
            <a:avLst/>
          </a:prstGeom>
          <a:solidFill>
            <a:srgbClr val="DE8C04"/>
          </a:solidFill>
          <a:ln/>
        </p:spPr>
      </p:sp>
      <p:sp>
        <p:nvSpPr>
          <p:cNvPr id="58" name="Text 14">
            <a:extLst>
              <a:ext uri="{FF2B5EF4-FFF2-40B4-BE49-F238E27FC236}">
                <a16:creationId xmlns:a16="http://schemas.microsoft.com/office/drawing/2014/main" id="{C6BFA343-94B7-4BAD-B23D-D6CCA383AB97}"/>
              </a:ext>
            </a:extLst>
          </p:cNvPr>
          <p:cNvSpPr/>
          <p:nvPr/>
        </p:nvSpPr>
        <p:spPr>
          <a:xfrm>
            <a:off x="5990697" y="4868181"/>
            <a:ext cx="2057448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Table Structure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22874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B7F1F-D6F3-41B5-AEDD-C2791D6AB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047" y="412681"/>
            <a:ext cx="8610600" cy="1293028"/>
          </a:xfrm>
        </p:spPr>
        <p:txBody>
          <a:bodyPr>
            <a:normAutofit/>
          </a:bodyPr>
          <a:lstStyle/>
          <a:p>
            <a:r>
              <a:rPr lang="en-US" sz="6000" b="1" dirty="0"/>
              <a:t>AI EXTRACTION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40C63B1-19AA-40EC-96AE-83835A43CF6B}"/>
              </a:ext>
            </a:extLst>
          </p:cNvPr>
          <p:cNvSpPr/>
          <p:nvPr/>
        </p:nvSpPr>
        <p:spPr>
          <a:xfrm>
            <a:off x="486098" y="2233070"/>
            <a:ext cx="9929801" cy="8533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t">
            <a:normAutofit lnSpcReduction="10000"/>
          </a:bodyPr>
          <a:lstStyle/>
          <a:p>
            <a:pPr>
              <a:lnSpc>
                <a:spcPct val="117000"/>
              </a:lnSpc>
              <a:spcAft>
                <a:spcPts val="1400"/>
              </a:spcAft>
            </a:pPr>
            <a:r>
              <a:rPr lang="en-US" sz="20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LLM-based extraction with configurable AI providers.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Current model: </a:t>
            </a:r>
            <a:r>
              <a:rPr lang="en-US" sz="2000" b="1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 Bold" pitchFamily="34" charset="-120"/>
              </a:rPr>
              <a:t>openai/gpt-oss-20b</a:t>
            </a:r>
            <a:endParaRPr lang="en-US" sz="2000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F0311827-D473-497B-854F-E1949A1EB002}"/>
              </a:ext>
            </a:extLst>
          </p:cNvPr>
          <p:cNvSpPr/>
          <p:nvPr/>
        </p:nvSpPr>
        <p:spPr>
          <a:xfrm>
            <a:off x="1904692" y="4065152"/>
            <a:ext cx="2057349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bin SemiBold" pitchFamily="34" charset="0"/>
              </a:rPr>
              <a:t>Document Evidence </a:t>
            </a:r>
            <a:endParaRPr lang="en-US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DEB9D77A-F0C7-4CC2-857F-383FCC22F066}"/>
              </a:ext>
            </a:extLst>
          </p:cNvPr>
          <p:cNvSpPr/>
          <p:nvPr/>
        </p:nvSpPr>
        <p:spPr>
          <a:xfrm>
            <a:off x="1904692" y="4494571"/>
            <a:ext cx="2057349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text + Page number</a:t>
            </a:r>
            <a:endParaRPr lang="en-US" sz="16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9728EB03-4F34-4C8E-AA79-3DB1BD55CE39}"/>
              </a:ext>
            </a:extLst>
          </p:cNvPr>
          <p:cNvSpPr/>
          <p:nvPr/>
        </p:nvSpPr>
        <p:spPr>
          <a:xfrm>
            <a:off x="4808028" y="3613811"/>
            <a:ext cx="87022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C440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2400" dirty="0">
              <a:solidFill>
                <a:srgbClr val="C44000"/>
              </a:solidFill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703578F1-558C-40DE-82D4-BE3588F91ACB}"/>
              </a:ext>
            </a:extLst>
          </p:cNvPr>
          <p:cNvSpPr/>
          <p:nvPr/>
        </p:nvSpPr>
        <p:spPr>
          <a:xfrm>
            <a:off x="4810707" y="4046681"/>
            <a:ext cx="2057349" cy="356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AI Extraction</a:t>
            </a:r>
            <a:endParaRPr lang="en-US" sz="180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32358296-2C25-4970-838B-5D9A59A3AEAD}"/>
              </a:ext>
            </a:extLst>
          </p:cNvPr>
          <p:cNvSpPr/>
          <p:nvPr/>
        </p:nvSpPr>
        <p:spPr>
          <a:xfrm>
            <a:off x="4808028" y="4494571"/>
            <a:ext cx="2666933" cy="5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Inter" pitchFamily="34" charset="0"/>
                <a:ea typeface="Inter" pitchFamily="34" charset="-122"/>
              </a:rPr>
              <a:t>Document-specific prompts 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Inter" pitchFamily="34" charset="0"/>
                <a:ea typeface="Inter" pitchFamily="34" charset="-122"/>
              </a:rPr>
              <a:t>extract fields and line items</a:t>
            </a:r>
            <a:endParaRPr lang="en-US" sz="16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A4955DA1-B261-4193-AFC5-0846308888E7}"/>
              </a:ext>
            </a:extLst>
          </p:cNvPr>
          <p:cNvSpPr/>
          <p:nvPr/>
        </p:nvSpPr>
        <p:spPr>
          <a:xfrm>
            <a:off x="7725283" y="4494571"/>
            <a:ext cx="2057448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JSON for API responses</a:t>
            </a:r>
            <a:endParaRPr lang="en-US" sz="1600" dirty="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ED4EA1B0-662A-46F3-B0BD-7376D646A015}"/>
              </a:ext>
            </a:extLst>
          </p:cNvPr>
          <p:cNvSpPr/>
          <p:nvPr/>
        </p:nvSpPr>
        <p:spPr>
          <a:xfrm>
            <a:off x="7725283" y="3617399"/>
            <a:ext cx="87290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DE8C0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</a:t>
            </a:r>
            <a:endParaRPr lang="en-US" sz="2400" dirty="0">
              <a:solidFill>
                <a:srgbClr val="DE8C04"/>
              </a:solidFill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4C2CD379-C5DE-4D70-BEE8-1648AC96F041}"/>
              </a:ext>
            </a:extLst>
          </p:cNvPr>
          <p:cNvSpPr/>
          <p:nvPr/>
        </p:nvSpPr>
        <p:spPr>
          <a:xfrm>
            <a:off x="1904692" y="3617399"/>
            <a:ext cx="82954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DF00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</a:t>
            </a:r>
            <a:endParaRPr lang="en-US" sz="2400" dirty="0">
              <a:solidFill>
                <a:srgbClr val="DF0000"/>
              </a:solidFill>
            </a:endParaRPr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778B0B85-3D21-4500-91D7-BB0D80451034}"/>
              </a:ext>
            </a:extLst>
          </p:cNvPr>
          <p:cNvSpPr/>
          <p:nvPr/>
        </p:nvSpPr>
        <p:spPr>
          <a:xfrm flipV="1">
            <a:off x="1890773" y="3963062"/>
            <a:ext cx="2441235" cy="45719"/>
          </a:xfrm>
          <a:prstGeom prst="rect">
            <a:avLst/>
          </a:prstGeom>
          <a:solidFill>
            <a:srgbClr val="D30908"/>
          </a:solidFill>
          <a:ln/>
        </p:spPr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215DC12F-C1F1-42D5-9C70-BCA4C89846BD}"/>
              </a:ext>
            </a:extLst>
          </p:cNvPr>
          <p:cNvSpPr/>
          <p:nvPr/>
        </p:nvSpPr>
        <p:spPr>
          <a:xfrm flipV="1">
            <a:off x="4808028" y="3963061"/>
            <a:ext cx="2441235" cy="45719"/>
          </a:xfrm>
          <a:prstGeom prst="rect">
            <a:avLst/>
          </a:prstGeom>
          <a:solidFill>
            <a:srgbClr val="C44000"/>
          </a:solidFill>
          <a:ln/>
        </p:spPr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A3C9FBE7-5A80-404F-BF90-DA542EEC0E23}"/>
              </a:ext>
            </a:extLst>
          </p:cNvPr>
          <p:cNvSpPr/>
          <p:nvPr/>
        </p:nvSpPr>
        <p:spPr>
          <a:xfrm flipV="1">
            <a:off x="7725283" y="3959088"/>
            <a:ext cx="2441235" cy="45719"/>
          </a:xfrm>
          <a:prstGeom prst="rect">
            <a:avLst/>
          </a:prstGeom>
          <a:solidFill>
            <a:srgbClr val="DE8C04"/>
          </a:solidFill>
          <a:ln/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0DBA13D2-5A5A-409F-90F1-3DF0C873BD0A}"/>
              </a:ext>
            </a:extLst>
          </p:cNvPr>
          <p:cNvSpPr/>
          <p:nvPr/>
        </p:nvSpPr>
        <p:spPr>
          <a:xfrm>
            <a:off x="7725283" y="4065152"/>
            <a:ext cx="2057448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Structured Output</a:t>
            </a:r>
            <a:endParaRPr lang="en-US" sz="1800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584466C9-CFD0-4EF9-9DA3-2617CB7AF52C}"/>
              </a:ext>
            </a:extLst>
          </p:cNvPr>
          <p:cNvSpPr/>
          <p:nvPr/>
        </p:nvSpPr>
        <p:spPr>
          <a:xfrm>
            <a:off x="1887126" y="5586768"/>
            <a:ext cx="2448528" cy="670419"/>
          </a:xfrm>
          <a:prstGeom prst="rect">
            <a:avLst/>
          </a:prstGeom>
          <a:solidFill>
            <a:srgbClr val="CB0000"/>
          </a:solidFill>
          <a:ln/>
        </p:spPr>
        <p:txBody>
          <a:bodyPr/>
          <a:lstStyle/>
          <a:p>
            <a:pPr algn="ctr"/>
            <a:r>
              <a:rPr lang="en-US" dirty="0"/>
              <a:t>Document </a:t>
            </a: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B04FB7C7-430F-4D1E-9C75-F4E32FE00C40}"/>
              </a:ext>
            </a:extLst>
          </p:cNvPr>
          <p:cNvSpPr/>
          <p:nvPr/>
        </p:nvSpPr>
        <p:spPr>
          <a:xfrm>
            <a:off x="4773273" y="5586768"/>
            <a:ext cx="2448528" cy="670419"/>
          </a:xfrm>
          <a:prstGeom prst="rect">
            <a:avLst/>
          </a:prstGeom>
          <a:solidFill>
            <a:srgbClr val="C44000"/>
          </a:solidFill>
          <a:ln/>
        </p:spPr>
        <p:txBody>
          <a:bodyPr/>
          <a:lstStyle/>
          <a:p>
            <a:pPr algn="ctr"/>
            <a:r>
              <a:rPr lang="en-US" dirty="0"/>
              <a:t>AI Extraction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5B3668C3-FB48-4A34-9BDD-ABDC7DF51916}"/>
              </a:ext>
            </a:extLst>
          </p:cNvPr>
          <p:cNvSpPr/>
          <p:nvPr/>
        </p:nvSpPr>
        <p:spPr>
          <a:xfrm>
            <a:off x="7683167" y="5586768"/>
            <a:ext cx="2448596" cy="670419"/>
          </a:xfrm>
          <a:prstGeom prst="rect">
            <a:avLst/>
          </a:prstGeom>
          <a:solidFill>
            <a:srgbClr val="DE8C04"/>
          </a:solidFill>
          <a:ln/>
        </p:spPr>
        <p:txBody>
          <a:bodyPr/>
          <a:lstStyle/>
          <a:p>
            <a:pPr algn="ctr"/>
            <a:r>
              <a:rPr lang="en-US" dirty="0"/>
              <a:t>Structured JSON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904BDF82-9C41-43B4-BE23-8994B21104E1}"/>
              </a:ext>
            </a:extLst>
          </p:cNvPr>
          <p:cNvSpPr/>
          <p:nvPr/>
        </p:nvSpPr>
        <p:spPr>
          <a:xfrm>
            <a:off x="4335654" y="5743751"/>
            <a:ext cx="437619" cy="356452"/>
          </a:xfrm>
          <a:prstGeom prst="rightArrow">
            <a:avLst/>
          </a:prstGeom>
          <a:solidFill>
            <a:srgbClr val="CB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0E288831-1605-4125-BD68-0A7B2746B528}"/>
              </a:ext>
            </a:extLst>
          </p:cNvPr>
          <p:cNvSpPr/>
          <p:nvPr/>
        </p:nvSpPr>
        <p:spPr>
          <a:xfrm>
            <a:off x="7214508" y="5700401"/>
            <a:ext cx="437619" cy="356452"/>
          </a:xfrm>
          <a:prstGeom prst="rightArrow">
            <a:avLst/>
          </a:prstGeom>
          <a:solidFill>
            <a:srgbClr val="C44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31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B7F1F-D6F3-41B5-AEDD-C2791D6AB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047" y="41268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US" sz="6000" b="1" dirty="0"/>
              <a:t>FINANCIAL VALIDATION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8590A2-2B4A-4EAB-89B3-64F74652186E}"/>
              </a:ext>
            </a:extLst>
          </p:cNvPr>
          <p:cNvSpPr/>
          <p:nvPr/>
        </p:nvSpPr>
        <p:spPr>
          <a:xfrm>
            <a:off x="662352" y="1705708"/>
            <a:ext cx="78997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Inter" panose="020B0604020202020204" charset="0"/>
                <a:ea typeface="Inter" panose="020B0604020202020204" charset="0"/>
              </a:rPr>
              <a:t>AI proposes values; deterministic rules verify the numbers.</a:t>
            </a:r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F1999289-B7A8-41FC-9C98-B38576493203}"/>
              </a:ext>
            </a:extLst>
          </p:cNvPr>
          <p:cNvSpPr/>
          <p:nvPr/>
        </p:nvSpPr>
        <p:spPr>
          <a:xfrm>
            <a:off x="3435378" y="3117502"/>
            <a:ext cx="2057349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bin SemiBold" pitchFamily="34" charset="0"/>
              </a:rPr>
              <a:t>Balance Sheet</a:t>
            </a:r>
            <a:endParaRPr lang="en-US" dirty="0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9F4431E3-33D8-4635-81C3-C8756AD3F58F}"/>
              </a:ext>
            </a:extLst>
          </p:cNvPr>
          <p:cNvSpPr/>
          <p:nvPr/>
        </p:nvSpPr>
        <p:spPr>
          <a:xfrm>
            <a:off x="3435378" y="3546921"/>
            <a:ext cx="2057349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Accounting balance</a:t>
            </a:r>
            <a:endParaRPr lang="en-US" sz="160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97E99FD6-19DA-47F2-A73E-B8A1F148563B}"/>
              </a:ext>
            </a:extLst>
          </p:cNvPr>
          <p:cNvSpPr/>
          <p:nvPr/>
        </p:nvSpPr>
        <p:spPr>
          <a:xfrm>
            <a:off x="6338714" y="2666161"/>
            <a:ext cx="87022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C440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</a:t>
            </a:r>
            <a:endParaRPr lang="en-US" sz="2400" dirty="0">
              <a:solidFill>
                <a:srgbClr val="C44000"/>
              </a:solidFill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623C6A2-B39B-4A9A-9298-3CC13A689453}"/>
              </a:ext>
            </a:extLst>
          </p:cNvPr>
          <p:cNvSpPr/>
          <p:nvPr/>
        </p:nvSpPr>
        <p:spPr>
          <a:xfrm>
            <a:off x="6341393" y="3099031"/>
            <a:ext cx="2057349" cy="356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Profit &amp; Loss</a:t>
            </a:r>
            <a:endParaRPr lang="en-US" sz="1800" dirty="0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1769B41A-B9B6-48EC-BA00-3F46982591DE}"/>
              </a:ext>
            </a:extLst>
          </p:cNvPr>
          <p:cNvSpPr/>
          <p:nvPr/>
        </p:nvSpPr>
        <p:spPr>
          <a:xfrm>
            <a:off x="6338714" y="3546921"/>
            <a:ext cx="2666933" cy="5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Inter" pitchFamily="34" charset="0"/>
                <a:ea typeface="Inter" pitchFamily="34" charset="-122"/>
              </a:rPr>
              <a:t>Profit check</a:t>
            </a:r>
            <a:endParaRPr lang="en-US" sz="1600" dirty="0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070256E3-A0AD-40FC-9E53-69209B6BEFE2}"/>
              </a:ext>
            </a:extLst>
          </p:cNvPr>
          <p:cNvSpPr/>
          <p:nvPr/>
        </p:nvSpPr>
        <p:spPr>
          <a:xfrm>
            <a:off x="9255969" y="3546921"/>
            <a:ext cx="2057448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 flow check</a:t>
            </a:r>
            <a:endParaRPr lang="en-US" sz="1600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471C73B0-89DA-45B2-B2D0-CD961E55604A}"/>
              </a:ext>
            </a:extLst>
          </p:cNvPr>
          <p:cNvSpPr/>
          <p:nvPr/>
        </p:nvSpPr>
        <p:spPr>
          <a:xfrm>
            <a:off x="9255969" y="2685048"/>
            <a:ext cx="87290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DE8C0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04</a:t>
            </a:r>
            <a:endParaRPr lang="en-US" sz="2400" dirty="0">
              <a:solidFill>
                <a:srgbClr val="DE8C04"/>
              </a:solidFill>
            </a:endParaRPr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A4508873-4ACD-4F64-8237-AF230798CFEF}"/>
              </a:ext>
            </a:extLst>
          </p:cNvPr>
          <p:cNvSpPr/>
          <p:nvPr/>
        </p:nvSpPr>
        <p:spPr>
          <a:xfrm>
            <a:off x="3435378" y="2669749"/>
            <a:ext cx="82954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DF00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2400" dirty="0">
              <a:solidFill>
                <a:srgbClr val="DF0000"/>
              </a:solidFill>
            </a:endParaRPr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B67E036A-FD6D-4024-B3F0-ADADCDA659DD}"/>
              </a:ext>
            </a:extLst>
          </p:cNvPr>
          <p:cNvSpPr/>
          <p:nvPr/>
        </p:nvSpPr>
        <p:spPr>
          <a:xfrm flipV="1">
            <a:off x="3421459" y="3015412"/>
            <a:ext cx="2441235" cy="45719"/>
          </a:xfrm>
          <a:prstGeom prst="rect">
            <a:avLst/>
          </a:prstGeom>
          <a:solidFill>
            <a:srgbClr val="D30908"/>
          </a:solidFill>
          <a:ln/>
        </p:spPr>
      </p:sp>
      <p:sp>
        <p:nvSpPr>
          <p:cNvPr id="34" name="Shape 5">
            <a:extLst>
              <a:ext uri="{FF2B5EF4-FFF2-40B4-BE49-F238E27FC236}">
                <a16:creationId xmlns:a16="http://schemas.microsoft.com/office/drawing/2014/main" id="{40FC01BF-8712-4811-9000-7AEBA5AF9549}"/>
              </a:ext>
            </a:extLst>
          </p:cNvPr>
          <p:cNvSpPr/>
          <p:nvPr/>
        </p:nvSpPr>
        <p:spPr>
          <a:xfrm flipV="1">
            <a:off x="6338714" y="3015411"/>
            <a:ext cx="2441235" cy="45719"/>
          </a:xfrm>
          <a:prstGeom prst="rect">
            <a:avLst/>
          </a:prstGeom>
          <a:solidFill>
            <a:srgbClr val="C44000"/>
          </a:solidFill>
          <a:ln/>
        </p:spPr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F3057E11-530E-454C-B0CE-9075BEB95256}"/>
              </a:ext>
            </a:extLst>
          </p:cNvPr>
          <p:cNvSpPr/>
          <p:nvPr/>
        </p:nvSpPr>
        <p:spPr>
          <a:xfrm flipV="1">
            <a:off x="9255969" y="3029932"/>
            <a:ext cx="2441235" cy="45719"/>
          </a:xfrm>
          <a:prstGeom prst="rect">
            <a:avLst/>
          </a:prstGeom>
          <a:solidFill>
            <a:srgbClr val="DE8C04"/>
          </a:solidFill>
          <a:ln/>
        </p:spPr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7CF8D127-49EB-49B6-8FC4-F0664169B8BC}"/>
              </a:ext>
            </a:extLst>
          </p:cNvPr>
          <p:cNvSpPr/>
          <p:nvPr/>
        </p:nvSpPr>
        <p:spPr>
          <a:xfrm>
            <a:off x="9255969" y="3117502"/>
            <a:ext cx="2057448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Cash Flow</a:t>
            </a:r>
            <a:endParaRPr lang="en-US" sz="1800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2755332F-CCA9-437D-80DD-7F5DDB70ED77}"/>
              </a:ext>
            </a:extLst>
          </p:cNvPr>
          <p:cNvSpPr/>
          <p:nvPr/>
        </p:nvSpPr>
        <p:spPr>
          <a:xfrm>
            <a:off x="3417812" y="4639118"/>
            <a:ext cx="2448528" cy="670419"/>
          </a:xfrm>
          <a:prstGeom prst="rect">
            <a:avLst/>
          </a:prstGeom>
          <a:solidFill>
            <a:srgbClr val="CB0000"/>
          </a:solidFill>
          <a:ln/>
        </p:spPr>
        <p:txBody>
          <a:bodyPr/>
          <a:lstStyle/>
          <a:p>
            <a:pPr algn="ctr"/>
            <a:r>
              <a:rPr lang="en-US" sz="1600" dirty="0"/>
              <a:t>Assets = </a:t>
            </a:r>
          </a:p>
          <a:p>
            <a:pPr algn="ctr"/>
            <a:r>
              <a:rPr lang="en-US" sz="1600" dirty="0"/>
              <a:t>Liabilities + Equity</a:t>
            </a:r>
          </a:p>
        </p:txBody>
      </p:sp>
      <p:sp>
        <p:nvSpPr>
          <p:cNvPr id="38" name="Shape 16">
            <a:extLst>
              <a:ext uri="{FF2B5EF4-FFF2-40B4-BE49-F238E27FC236}">
                <a16:creationId xmlns:a16="http://schemas.microsoft.com/office/drawing/2014/main" id="{C016B038-43B2-49EA-88C3-38EE64FD0257}"/>
              </a:ext>
            </a:extLst>
          </p:cNvPr>
          <p:cNvSpPr/>
          <p:nvPr/>
        </p:nvSpPr>
        <p:spPr>
          <a:xfrm>
            <a:off x="6303959" y="4639118"/>
            <a:ext cx="2448528" cy="670419"/>
          </a:xfrm>
          <a:prstGeom prst="rect">
            <a:avLst/>
          </a:prstGeom>
          <a:solidFill>
            <a:srgbClr val="C44000"/>
          </a:solidFill>
          <a:ln/>
        </p:spPr>
        <p:txBody>
          <a:bodyPr/>
          <a:lstStyle/>
          <a:p>
            <a:pPr algn="ctr"/>
            <a:r>
              <a:rPr lang="en-US" sz="1600" dirty="0"/>
              <a:t>Income − Expenditure = Net Profit</a:t>
            </a:r>
          </a:p>
        </p:txBody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AD9AC85F-01CE-4F12-8B4B-158E65249B73}"/>
              </a:ext>
            </a:extLst>
          </p:cNvPr>
          <p:cNvSpPr/>
          <p:nvPr/>
        </p:nvSpPr>
        <p:spPr>
          <a:xfrm>
            <a:off x="9213853" y="4639118"/>
            <a:ext cx="2448596" cy="670419"/>
          </a:xfrm>
          <a:prstGeom prst="rect">
            <a:avLst/>
          </a:prstGeom>
          <a:solidFill>
            <a:srgbClr val="DE8C04"/>
          </a:solidFill>
          <a:ln/>
        </p:spPr>
        <p:txBody>
          <a:bodyPr/>
          <a:lstStyle/>
          <a:p>
            <a:pPr algn="ctr"/>
            <a:r>
              <a:rPr lang="en-US" sz="1500" dirty="0"/>
              <a:t>Opening Cash + Net Change = Closing Cash</a:t>
            </a:r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32146AFD-388A-4C9D-9A3C-A02EBB149F3B}"/>
              </a:ext>
            </a:extLst>
          </p:cNvPr>
          <p:cNvSpPr/>
          <p:nvPr/>
        </p:nvSpPr>
        <p:spPr>
          <a:xfrm>
            <a:off x="511797" y="3117502"/>
            <a:ext cx="2057349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bin SemiBold" pitchFamily="34" charset="0"/>
              </a:rPr>
              <a:t>Invoice </a:t>
            </a:r>
            <a:endParaRPr lang="en-US" dirty="0"/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95131681-D848-45EF-9464-4274AC7CFD9F}"/>
              </a:ext>
            </a:extLst>
          </p:cNvPr>
          <p:cNvSpPr/>
          <p:nvPr/>
        </p:nvSpPr>
        <p:spPr>
          <a:xfrm>
            <a:off x="511797" y="3546921"/>
            <a:ext cx="2057349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/>
              <a:t>Arithmetic Check</a:t>
            </a:r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F0653F68-CF24-43D3-B816-7F2917437E48}"/>
              </a:ext>
            </a:extLst>
          </p:cNvPr>
          <p:cNvSpPr/>
          <p:nvPr/>
        </p:nvSpPr>
        <p:spPr>
          <a:xfrm>
            <a:off x="511797" y="2669749"/>
            <a:ext cx="82954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8800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</a:t>
            </a:r>
            <a:endParaRPr lang="en-US" sz="2400" dirty="0">
              <a:solidFill>
                <a:srgbClr val="880000"/>
              </a:solidFill>
            </a:endParaRPr>
          </a:p>
        </p:txBody>
      </p:sp>
      <p:sp>
        <p:nvSpPr>
          <p:cNvPr id="46" name="Shape 12">
            <a:extLst>
              <a:ext uri="{FF2B5EF4-FFF2-40B4-BE49-F238E27FC236}">
                <a16:creationId xmlns:a16="http://schemas.microsoft.com/office/drawing/2014/main" id="{39CB256A-F704-4F07-92A5-EA917C58D76C}"/>
              </a:ext>
            </a:extLst>
          </p:cNvPr>
          <p:cNvSpPr/>
          <p:nvPr/>
        </p:nvSpPr>
        <p:spPr>
          <a:xfrm>
            <a:off x="494231" y="4639118"/>
            <a:ext cx="2448528" cy="670419"/>
          </a:xfrm>
          <a:prstGeom prst="rect">
            <a:avLst/>
          </a:prstGeom>
          <a:solidFill>
            <a:srgbClr val="880000"/>
          </a:solidFill>
          <a:ln/>
        </p:spPr>
        <p:txBody>
          <a:bodyPr/>
          <a:lstStyle/>
          <a:p>
            <a:pPr algn="ctr"/>
            <a:r>
              <a:rPr lang="en-US" sz="1400" dirty="0"/>
              <a:t>Subtotal + Tax − Discount = Total </a:t>
            </a:r>
          </a:p>
        </p:txBody>
      </p:sp>
      <p:sp>
        <p:nvSpPr>
          <p:cNvPr id="47" name="Shape 5">
            <a:extLst>
              <a:ext uri="{FF2B5EF4-FFF2-40B4-BE49-F238E27FC236}">
                <a16:creationId xmlns:a16="http://schemas.microsoft.com/office/drawing/2014/main" id="{9985CAE1-F468-4F1E-9A1A-5FA31C8B0917}"/>
              </a:ext>
            </a:extLst>
          </p:cNvPr>
          <p:cNvSpPr/>
          <p:nvPr/>
        </p:nvSpPr>
        <p:spPr>
          <a:xfrm flipV="1">
            <a:off x="494231" y="3015410"/>
            <a:ext cx="2441235" cy="45719"/>
          </a:xfrm>
          <a:prstGeom prst="rect">
            <a:avLst/>
          </a:prstGeom>
          <a:solidFill>
            <a:srgbClr val="880000"/>
          </a:solidFill>
          <a:ln/>
        </p:spPr>
      </p:sp>
    </p:spTree>
    <p:extLst>
      <p:ext uri="{BB962C8B-B14F-4D97-AF65-F5344CB8AC3E}">
        <p14:creationId xmlns:p14="http://schemas.microsoft.com/office/powerpoint/2010/main" val="2335747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B7F1F-D6F3-41B5-AEDD-C2791D6AB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047" y="412681"/>
            <a:ext cx="8610600" cy="1293028"/>
          </a:xfrm>
        </p:spPr>
        <p:txBody>
          <a:bodyPr>
            <a:noAutofit/>
          </a:bodyPr>
          <a:lstStyle/>
          <a:p>
            <a:r>
              <a:rPr lang="en-US" sz="4800" b="1" dirty="0"/>
              <a:t>ENGINEERING CHALLENGES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CF4F85-2F3F-4A9F-9649-A6CB42EFAB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013177"/>
              </p:ext>
            </p:extLst>
          </p:nvPr>
        </p:nvGraphicFramePr>
        <p:xfrm>
          <a:off x="968894" y="1933322"/>
          <a:ext cx="10254212" cy="4511997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127106">
                  <a:extLst>
                    <a:ext uri="{9D8B030D-6E8A-4147-A177-3AD203B41FA5}">
                      <a16:colId xmlns:a16="http://schemas.microsoft.com/office/drawing/2014/main" val="283732618"/>
                    </a:ext>
                  </a:extLst>
                </a:gridCol>
                <a:gridCol w="5127106">
                  <a:extLst>
                    <a:ext uri="{9D8B030D-6E8A-4147-A177-3AD203B41FA5}">
                      <a16:colId xmlns:a16="http://schemas.microsoft.com/office/drawing/2014/main" val="1785034989"/>
                    </a:ext>
                  </a:extLst>
                </a:gridCol>
              </a:tblGrid>
              <a:tr h="6445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Challenge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Response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418559"/>
                  </a:ext>
                </a:extLst>
              </a:tr>
              <a:tr h="644571">
                <a:tc>
                  <a:txBody>
                    <a:bodyPr/>
                    <a:lstStyle/>
                    <a:p>
                      <a:r>
                        <a:rPr lang="en-US" dirty="0"/>
                        <a:t>OCR table misalignment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Bounding boxes + row reconstruction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124703"/>
                  </a:ext>
                </a:extLst>
              </a:tr>
              <a:tr h="644571">
                <a:tc>
                  <a:txBody>
                    <a:bodyPr/>
                    <a:lstStyle/>
                    <a:p>
                      <a:r>
                        <a:rPr lang="en-US" dirty="0"/>
                        <a:t>AI output truncation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Explicit output token limit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4887104"/>
                  </a:ext>
                </a:extLst>
              </a:tr>
              <a:tr h="644571">
                <a:tc>
                  <a:txBody>
                    <a:bodyPr/>
                    <a:lstStyle/>
                    <a:p>
                      <a:r>
                        <a:rPr lang="en-US"/>
                        <a:t>Deprecated LLM model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Migrated to supported model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043494"/>
                  </a:ext>
                </a:extLst>
              </a:tr>
              <a:tr h="644571">
                <a:tc>
                  <a:txBody>
                    <a:bodyPr/>
                    <a:lstStyle/>
                    <a:p>
                      <a:r>
                        <a:rPr lang="en-US"/>
                        <a:t>Schema mismatch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Common extraction 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391590"/>
                  </a:ext>
                </a:extLst>
              </a:tr>
              <a:tr h="644571">
                <a:tc>
                  <a:txBody>
                    <a:bodyPr/>
                    <a:lstStyle/>
                    <a:p>
                      <a:r>
                        <a:rPr lang="en-US" dirty="0"/>
                        <a:t>OCR label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Generalized label-aware parsing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259506"/>
                  </a:ext>
                </a:extLst>
              </a:tr>
              <a:tr h="644571">
                <a:tc>
                  <a:txBody>
                    <a:bodyPr/>
                    <a:lstStyle/>
                    <a:p>
                      <a:r>
                        <a:rPr lang="en-US" dirty="0"/>
                        <a:t>Local persistence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PostgreSQL for production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818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1312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B7F1F-D6F3-41B5-AEDD-C2791D6AB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692" y="412681"/>
            <a:ext cx="9624955" cy="1293028"/>
          </a:xfrm>
        </p:spPr>
        <p:txBody>
          <a:bodyPr>
            <a:normAutofit/>
          </a:bodyPr>
          <a:lstStyle/>
          <a:p>
            <a:r>
              <a:rPr lang="en-US" sz="4800" b="1" dirty="0"/>
              <a:t>API TESTING &amp; DEPLOYMENT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F0311827-D473-497B-854F-E1949A1EB002}"/>
              </a:ext>
            </a:extLst>
          </p:cNvPr>
          <p:cNvSpPr/>
          <p:nvPr/>
        </p:nvSpPr>
        <p:spPr>
          <a:xfrm>
            <a:off x="1918611" y="2999581"/>
            <a:ext cx="2057349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bin SemiBold" pitchFamily="34" charset="0"/>
              </a:rPr>
              <a:t>Backend</a:t>
            </a:r>
            <a:endParaRPr lang="en-US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DEB9D77A-F0C7-4CC2-857F-383FCC22F066}"/>
              </a:ext>
            </a:extLst>
          </p:cNvPr>
          <p:cNvSpPr/>
          <p:nvPr/>
        </p:nvSpPr>
        <p:spPr>
          <a:xfrm>
            <a:off x="1918611" y="3429000"/>
            <a:ext cx="242731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</a:t>
            </a:r>
            <a:endParaRPr lang="en-US" sz="1600" dirty="0">
              <a:solidFill>
                <a:srgbClr val="CAD6DE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171450" indent="-171450" algn="l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AD6DE"/>
                </a:solidFill>
                <a:latin typeface="Inter" pitchFamily="34" charset="0"/>
                <a:ea typeface="Inter" pitchFamily="34" charset="-122"/>
              </a:rPr>
              <a:t>REST API for document processing </a:t>
            </a:r>
          </a:p>
          <a:p>
            <a:pPr marL="171450" indent="-171450" algn="l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AD6DE"/>
                </a:solidFill>
                <a:latin typeface="Inter" pitchFamily="34" charset="0"/>
                <a:ea typeface="Inter" pitchFamily="34" charset="-122"/>
              </a:rPr>
              <a:t>Swagger / </a:t>
            </a:r>
            <a:r>
              <a:rPr lang="en-US" sz="1600" dirty="0" err="1">
                <a:solidFill>
                  <a:srgbClr val="CAD6DE"/>
                </a:solidFill>
                <a:latin typeface="Inter" pitchFamily="34" charset="0"/>
                <a:ea typeface="Inter" pitchFamily="34" charset="-122"/>
              </a:rPr>
              <a:t>OpenAPI</a:t>
            </a:r>
            <a:endParaRPr lang="en-US" sz="16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9728EB03-4F34-4C8E-AA79-3DB1BD55CE39}"/>
              </a:ext>
            </a:extLst>
          </p:cNvPr>
          <p:cNvSpPr/>
          <p:nvPr/>
        </p:nvSpPr>
        <p:spPr>
          <a:xfrm>
            <a:off x="4821947" y="2548240"/>
            <a:ext cx="87022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C440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2400" dirty="0">
              <a:solidFill>
                <a:srgbClr val="C44000"/>
              </a:solidFill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703578F1-558C-40DE-82D4-BE3588F91ACB}"/>
              </a:ext>
            </a:extLst>
          </p:cNvPr>
          <p:cNvSpPr/>
          <p:nvPr/>
        </p:nvSpPr>
        <p:spPr>
          <a:xfrm>
            <a:off x="4824626" y="2981110"/>
            <a:ext cx="2057349" cy="356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Data Layer</a:t>
            </a:r>
            <a:endParaRPr lang="en-US" sz="180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32358296-2C25-4970-838B-5D9A59A3AEAD}"/>
              </a:ext>
            </a:extLst>
          </p:cNvPr>
          <p:cNvSpPr/>
          <p:nvPr/>
        </p:nvSpPr>
        <p:spPr>
          <a:xfrm>
            <a:off x="4821947" y="3428998"/>
            <a:ext cx="2572733" cy="1293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CAD6DE"/>
                </a:solidFill>
                <a:latin typeface="Inter" pitchFamily="34" charset="0"/>
                <a:ea typeface="Inter" pitchFamily="34" charset="-122"/>
              </a:rPr>
              <a:t>SQLAlchemy</a:t>
            </a:r>
            <a:endParaRPr lang="en-US" sz="1600" dirty="0">
              <a:solidFill>
                <a:srgbClr val="CAD6DE"/>
              </a:solidFill>
              <a:latin typeface="Inter" pitchFamily="34" charset="0"/>
              <a:ea typeface="Inter" pitchFamily="34" charset="-122"/>
            </a:endParaRPr>
          </a:p>
          <a:p>
            <a:pPr marL="285750" indent="-285750" algn="l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AD6DE"/>
                </a:solidFill>
                <a:latin typeface="Inter" pitchFamily="34" charset="0"/>
                <a:ea typeface="Inter" pitchFamily="34" charset="-122"/>
              </a:rPr>
              <a:t>SQLite for local </a:t>
            </a:r>
          </a:p>
          <a:p>
            <a:pPr algn="l">
              <a:lnSpc>
                <a:spcPct val="117000"/>
              </a:lnSpc>
            </a:pPr>
            <a:r>
              <a:rPr lang="en-US" sz="1600" dirty="0">
                <a:solidFill>
                  <a:srgbClr val="CAD6DE"/>
                </a:solidFill>
                <a:latin typeface="Inter" pitchFamily="34" charset="0"/>
                <a:ea typeface="Inter" pitchFamily="34" charset="-122"/>
              </a:rPr>
              <a:t>     development</a:t>
            </a:r>
          </a:p>
          <a:p>
            <a:pPr marL="285750" indent="-285750" algn="l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AD6DE"/>
                </a:solidFill>
                <a:latin typeface="Inter" pitchFamily="34" charset="0"/>
                <a:ea typeface="Inter" pitchFamily="34" charset="-122"/>
              </a:rPr>
              <a:t>PostgreSQL for production</a:t>
            </a:r>
            <a:endParaRPr lang="en-US" sz="16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A4955DA1-B261-4193-AFC5-0846308888E7}"/>
              </a:ext>
            </a:extLst>
          </p:cNvPr>
          <p:cNvSpPr/>
          <p:nvPr/>
        </p:nvSpPr>
        <p:spPr>
          <a:xfrm>
            <a:off x="7739201" y="3429000"/>
            <a:ext cx="2448595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A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Docker-based deployment</a:t>
            </a:r>
            <a:endParaRPr lang="en-US" sz="1600" dirty="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ED4EA1B0-662A-46F3-B0BD-7376D646A015}"/>
              </a:ext>
            </a:extLst>
          </p:cNvPr>
          <p:cNvSpPr/>
          <p:nvPr/>
        </p:nvSpPr>
        <p:spPr>
          <a:xfrm>
            <a:off x="7739202" y="2551828"/>
            <a:ext cx="87290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DE8C0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</a:t>
            </a:r>
            <a:endParaRPr lang="en-US" sz="2400" dirty="0">
              <a:solidFill>
                <a:srgbClr val="DE8C04"/>
              </a:solidFill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4C2CD379-C5DE-4D70-BEE8-1648AC96F041}"/>
              </a:ext>
            </a:extLst>
          </p:cNvPr>
          <p:cNvSpPr/>
          <p:nvPr/>
        </p:nvSpPr>
        <p:spPr>
          <a:xfrm>
            <a:off x="1918611" y="2551828"/>
            <a:ext cx="82954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DF00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</a:t>
            </a:r>
            <a:endParaRPr lang="en-US" sz="2400" dirty="0">
              <a:solidFill>
                <a:srgbClr val="DF0000"/>
              </a:solidFill>
            </a:endParaRPr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778B0B85-3D21-4500-91D7-BB0D80451034}"/>
              </a:ext>
            </a:extLst>
          </p:cNvPr>
          <p:cNvSpPr/>
          <p:nvPr/>
        </p:nvSpPr>
        <p:spPr>
          <a:xfrm flipV="1">
            <a:off x="1904692" y="2897491"/>
            <a:ext cx="2441235" cy="45719"/>
          </a:xfrm>
          <a:prstGeom prst="rect">
            <a:avLst/>
          </a:prstGeom>
          <a:solidFill>
            <a:srgbClr val="D30908"/>
          </a:solidFill>
          <a:ln/>
        </p:spPr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215DC12F-C1F1-42D5-9C70-BCA4C89846BD}"/>
              </a:ext>
            </a:extLst>
          </p:cNvPr>
          <p:cNvSpPr/>
          <p:nvPr/>
        </p:nvSpPr>
        <p:spPr>
          <a:xfrm flipV="1">
            <a:off x="4821947" y="2897490"/>
            <a:ext cx="2441235" cy="45719"/>
          </a:xfrm>
          <a:prstGeom prst="rect">
            <a:avLst/>
          </a:prstGeom>
          <a:solidFill>
            <a:srgbClr val="C44000"/>
          </a:solidFill>
          <a:ln/>
        </p:spPr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A3C9FBE7-5A80-404F-BF90-DA542EEC0E23}"/>
              </a:ext>
            </a:extLst>
          </p:cNvPr>
          <p:cNvSpPr/>
          <p:nvPr/>
        </p:nvSpPr>
        <p:spPr>
          <a:xfrm flipV="1">
            <a:off x="7739202" y="2893517"/>
            <a:ext cx="2441235" cy="45719"/>
          </a:xfrm>
          <a:prstGeom prst="rect">
            <a:avLst/>
          </a:prstGeom>
          <a:solidFill>
            <a:srgbClr val="DE8C04"/>
          </a:solidFill>
          <a:ln/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0DBA13D2-5A5A-409F-90F1-3DF0C873BD0A}"/>
              </a:ext>
            </a:extLst>
          </p:cNvPr>
          <p:cNvSpPr/>
          <p:nvPr/>
        </p:nvSpPr>
        <p:spPr>
          <a:xfrm>
            <a:off x="7739202" y="2999581"/>
            <a:ext cx="2057448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Deployment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76530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B7F1F-D6F3-41B5-AEDD-C2791D6AB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047" y="41268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US" sz="6000" b="1" dirty="0"/>
              <a:t>TESTING &amp; VERIFICATION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428A55-8C2C-4F56-884E-C83E42BA752F}"/>
              </a:ext>
            </a:extLst>
          </p:cNvPr>
          <p:cNvSpPr txBox="1"/>
          <p:nvPr/>
        </p:nvSpPr>
        <p:spPr>
          <a:xfrm rot="10800000" flipV="1">
            <a:off x="662353" y="1534010"/>
            <a:ext cx="11177955" cy="4265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br>
              <a:rPr lang="en-US" sz="2800" dirty="0"/>
            </a:br>
            <a:r>
              <a:rPr lang="en-US" sz="2800" dirty="0"/>
              <a:t>• All four document types tested</a:t>
            </a:r>
            <a:br>
              <a:rPr lang="en-US" sz="2800" dirty="0"/>
            </a:br>
            <a:r>
              <a:rPr lang="en-US" sz="2800" dirty="0"/>
              <a:t>• Unsupported-file rejection tested</a:t>
            </a:r>
            <a:br>
              <a:rPr lang="en-US" sz="2800" dirty="0"/>
            </a:br>
            <a:r>
              <a:rPr lang="en-US" sz="2800" dirty="0"/>
              <a:t>• Financial validation tested</a:t>
            </a:r>
            <a:br>
              <a:rPr lang="en-US" sz="2800" dirty="0"/>
            </a:br>
            <a:r>
              <a:rPr lang="en-US" sz="2800" dirty="0"/>
              <a:t>• Database persistence tested</a:t>
            </a:r>
          </a:p>
        </p:txBody>
      </p:sp>
    </p:spTree>
    <p:extLst>
      <p:ext uri="{BB962C8B-B14F-4D97-AF65-F5344CB8AC3E}">
        <p14:creationId xmlns:p14="http://schemas.microsoft.com/office/powerpoint/2010/main" val="3102475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B7F1F-D6F3-41B5-AEDD-C2791D6AB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047" y="412681"/>
            <a:ext cx="8610600" cy="1293028"/>
          </a:xfrm>
        </p:spPr>
        <p:txBody>
          <a:bodyPr>
            <a:noAutofit/>
          </a:bodyPr>
          <a:lstStyle/>
          <a:p>
            <a:r>
              <a:rPr lang="en-US" sz="4800" b="1" dirty="0"/>
              <a:t> THE OUTCOME</a:t>
            </a:r>
          </a:p>
        </p:txBody>
      </p:sp>
      <p:sp>
        <p:nvSpPr>
          <p:cNvPr id="9" name="Shape 16">
            <a:extLst>
              <a:ext uri="{FF2B5EF4-FFF2-40B4-BE49-F238E27FC236}">
                <a16:creationId xmlns:a16="http://schemas.microsoft.com/office/drawing/2014/main" id="{809B3EE7-F778-4DE3-AE1F-DB0E8F15221D}"/>
              </a:ext>
            </a:extLst>
          </p:cNvPr>
          <p:cNvSpPr/>
          <p:nvPr/>
        </p:nvSpPr>
        <p:spPr>
          <a:xfrm>
            <a:off x="4102394" y="2202672"/>
            <a:ext cx="3386549" cy="1410097"/>
          </a:xfrm>
          <a:prstGeom prst="rect">
            <a:avLst/>
          </a:prstGeom>
          <a:solidFill>
            <a:srgbClr val="C44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17">
            <a:extLst>
              <a:ext uri="{FF2B5EF4-FFF2-40B4-BE49-F238E27FC236}">
                <a16:creationId xmlns:a16="http://schemas.microsoft.com/office/drawing/2014/main" id="{0CE4CD0E-F058-4DBB-8573-45103F30DFF6}"/>
              </a:ext>
            </a:extLst>
          </p:cNvPr>
          <p:cNvSpPr/>
          <p:nvPr/>
        </p:nvSpPr>
        <p:spPr>
          <a:xfrm>
            <a:off x="4331039" y="2431272"/>
            <a:ext cx="86804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Shape 18">
            <a:extLst>
              <a:ext uri="{FF2B5EF4-FFF2-40B4-BE49-F238E27FC236}">
                <a16:creationId xmlns:a16="http://schemas.microsoft.com/office/drawing/2014/main" id="{B6837CD9-BB21-4A99-92AC-FF14321A35C4}"/>
              </a:ext>
            </a:extLst>
          </p:cNvPr>
          <p:cNvSpPr/>
          <p:nvPr/>
        </p:nvSpPr>
        <p:spPr>
          <a:xfrm>
            <a:off x="4331039" y="2715832"/>
            <a:ext cx="2929261" cy="1905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2" name="Text 19">
            <a:extLst>
              <a:ext uri="{FF2B5EF4-FFF2-40B4-BE49-F238E27FC236}">
                <a16:creationId xmlns:a16="http://schemas.microsoft.com/office/drawing/2014/main" id="{3F3BA857-2887-43D0-BC03-2D46E67770A2}"/>
              </a:ext>
            </a:extLst>
          </p:cNvPr>
          <p:cNvSpPr/>
          <p:nvPr/>
        </p:nvSpPr>
        <p:spPr>
          <a:xfrm>
            <a:off x="4331039" y="2817432"/>
            <a:ext cx="2929360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800" dirty="0"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Financial validation</a:t>
            </a:r>
            <a:endParaRPr lang="en-US" sz="1800" dirty="0"/>
          </a:p>
        </p:txBody>
      </p:sp>
      <p:sp>
        <p:nvSpPr>
          <p:cNvPr id="13" name="Shape 20">
            <a:extLst>
              <a:ext uri="{FF2B5EF4-FFF2-40B4-BE49-F238E27FC236}">
                <a16:creationId xmlns:a16="http://schemas.microsoft.com/office/drawing/2014/main" id="{48D1489E-BE0B-4DC9-B0A8-67446191262F}"/>
              </a:ext>
            </a:extLst>
          </p:cNvPr>
          <p:cNvSpPr/>
          <p:nvPr/>
        </p:nvSpPr>
        <p:spPr>
          <a:xfrm>
            <a:off x="4102394" y="4531140"/>
            <a:ext cx="3386450" cy="1410097"/>
          </a:xfrm>
          <a:prstGeom prst="rect">
            <a:avLst/>
          </a:prstGeom>
          <a:solidFill>
            <a:srgbClr val="DE8C04"/>
          </a:solidFill>
          <a:ln/>
        </p:spPr>
      </p:sp>
      <p:sp>
        <p:nvSpPr>
          <p:cNvPr id="14" name="Text 21">
            <a:extLst>
              <a:ext uri="{FF2B5EF4-FFF2-40B4-BE49-F238E27FC236}">
                <a16:creationId xmlns:a16="http://schemas.microsoft.com/office/drawing/2014/main" id="{16F86749-6931-47E2-9512-EFED094AC041}"/>
              </a:ext>
            </a:extLst>
          </p:cNvPr>
          <p:cNvSpPr/>
          <p:nvPr/>
        </p:nvSpPr>
        <p:spPr>
          <a:xfrm>
            <a:off x="4331039" y="4759740"/>
            <a:ext cx="87359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Shape 22">
            <a:extLst>
              <a:ext uri="{FF2B5EF4-FFF2-40B4-BE49-F238E27FC236}">
                <a16:creationId xmlns:a16="http://schemas.microsoft.com/office/drawing/2014/main" id="{004BD84A-3B3F-4389-A81F-258C22D4F16B}"/>
              </a:ext>
            </a:extLst>
          </p:cNvPr>
          <p:cNvSpPr/>
          <p:nvPr/>
        </p:nvSpPr>
        <p:spPr>
          <a:xfrm>
            <a:off x="4331039" y="5044300"/>
            <a:ext cx="3081756" cy="1905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6" name="Text 23">
            <a:extLst>
              <a:ext uri="{FF2B5EF4-FFF2-40B4-BE49-F238E27FC236}">
                <a16:creationId xmlns:a16="http://schemas.microsoft.com/office/drawing/2014/main" id="{E39FF49A-657B-4C01-989E-9B5C297E2B1F}"/>
              </a:ext>
            </a:extLst>
          </p:cNvPr>
          <p:cNvSpPr/>
          <p:nvPr/>
        </p:nvSpPr>
        <p:spPr>
          <a:xfrm>
            <a:off x="4331039" y="5145900"/>
            <a:ext cx="3081856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800" dirty="0"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JSON and API response</a:t>
            </a:r>
            <a:endParaRPr lang="en-US" sz="180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99E524B3-C0C8-4BDD-B079-3269190E6780}"/>
              </a:ext>
            </a:extLst>
          </p:cNvPr>
          <p:cNvSpPr/>
          <p:nvPr/>
        </p:nvSpPr>
        <p:spPr>
          <a:xfrm>
            <a:off x="285853" y="2202672"/>
            <a:ext cx="3386450" cy="1410097"/>
          </a:xfrm>
          <a:prstGeom prst="rect">
            <a:avLst/>
          </a:prstGeom>
          <a:solidFill>
            <a:srgbClr val="88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C022AA48-791F-4467-8598-0177828C99D8}"/>
              </a:ext>
            </a:extLst>
          </p:cNvPr>
          <p:cNvSpPr/>
          <p:nvPr/>
        </p:nvSpPr>
        <p:spPr>
          <a:xfrm>
            <a:off x="514446" y="2431272"/>
            <a:ext cx="878957" cy="203200"/>
          </a:xfrm>
          <a:prstGeom prst="rect">
            <a:avLst/>
          </a:prstGeom>
          <a:solidFill>
            <a:srgbClr val="880000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5E089552-C144-4CCB-AFB9-69E2CC2DFEBE}"/>
              </a:ext>
            </a:extLst>
          </p:cNvPr>
          <p:cNvSpPr/>
          <p:nvPr/>
        </p:nvSpPr>
        <p:spPr>
          <a:xfrm>
            <a:off x="514446" y="2715832"/>
            <a:ext cx="3081657" cy="19050"/>
          </a:xfrm>
          <a:prstGeom prst="rect">
            <a:avLst/>
          </a:prstGeom>
          <a:solidFill>
            <a:srgbClr val="880000"/>
          </a:solidFill>
          <a:ln/>
        </p:spPr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EB74E3DA-5039-4F93-B9F8-DB7A31BF2A1B}"/>
              </a:ext>
            </a:extLst>
          </p:cNvPr>
          <p:cNvSpPr/>
          <p:nvPr/>
        </p:nvSpPr>
        <p:spPr>
          <a:xfrm>
            <a:off x="514446" y="2817432"/>
            <a:ext cx="3081756" cy="566738"/>
          </a:xfrm>
          <a:prstGeom prst="rect">
            <a:avLst/>
          </a:prstGeom>
          <a:solidFill>
            <a:srgbClr val="880000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800" dirty="0"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AI extraction </a:t>
            </a:r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00BCFD80-0DE5-41F4-A2C3-35F372BD4F48}"/>
              </a:ext>
            </a:extLst>
          </p:cNvPr>
          <p:cNvSpPr/>
          <p:nvPr/>
        </p:nvSpPr>
        <p:spPr>
          <a:xfrm>
            <a:off x="285853" y="4531140"/>
            <a:ext cx="3386450" cy="1410097"/>
          </a:xfrm>
          <a:prstGeom prst="rect">
            <a:avLst/>
          </a:prstGeom>
          <a:solidFill>
            <a:srgbClr val="CB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8DAF8C40-0B36-45D2-A82E-F9FDEE6E3886}"/>
              </a:ext>
            </a:extLst>
          </p:cNvPr>
          <p:cNvSpPr/>
          <p:nvPr/>
        </p:nvSpPr>
        <p:spPr>
          <a:xfrm>
            <a:off x="514446" y="4759740"/>
            <a:ext cx="87895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Shape 14">
            <a:extLst>
              <a:ext uri="{FF2B5EF4-FFF2-40B4-BE49-F238E27FC236}">
                <a16:creationId xmlns:a16="http://schemas.microsoft.com/office/drawing/2014/main" id="{CCF93F79-E7D5-4796-B577-20BBF2DA3112}"/>
              </a:ext>
            </a:extLst>
          </p:cNvPr>
          <p:cNvSpPr/>
          <p:nvPr/>
        </p:nvSpPr>
        <p:spPr>
          <a:xfrm>
            <a:off x="514446" y="5044300"/>
            <a:ext cx="3081657" cy="1905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F163B8A3-4C41-48BB-8069-718544A83060}"/>
              </a:ext>
            </a:extLst>
          </p:cNvPr>
          <p:cNvSpPr/>
          <p:nvPr/>
        </p:nvSpPr>
        <p:spPr>
          <a:xfrm>
            <a:off x="514446" y="5145900"/>
            <a:ext cx="3081756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800" dirty="0"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OCR Processing</a:t>
            </a:r>
            <a:endParaRPr lang="en-US" sz="18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C04FB7-2335-4C18-9BDD-7D87C703E2BD}"/>
              </a:ext>
            </a:extLst>
          </p:cNvPr>
          <p:cNvSpPr/>
          <p:nvPr/>
        </p:nvSpPr>
        <p:spPr>
          <a:xfrm>
            <a:off x="8000374" y="2202672"/>
            <a:ext cx="3905773" cy="3738565"/>
          </a:xfrm>
          <a:prstGeom prst="rect">
            <a:avLst/>
          </a:prstGeom>
          <a:solidFill>
            <a:srgbClr val="D7A7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FUTURE SCOPE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Confidence Scoring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More Document Types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Better Table Extraction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Advanced Validation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Production Scalability</a:t>
            </a:r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037CBEAD-B72F-4AB9-82B8-B4B05EA45127}"/>
              </a:ext>
            </a:extLst>
          </p:cNvPr>
          <p:cNvSpPr/>
          <p:nvPr/>
        </p:nvSpPr>
        <p:spPr>
          <a:xfrm>
            <a:off x="514446" y="2709976"/>
            <a:ext cx="3081657" cy="1905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B341F7C7-07BC-47CB-A397-E2DC8495E5E2}"/>
              </a:ext>
            </a:extLst>
          </p:cNvPr>
          <p:cNvSpPr/>
          <p:nvPr/>
        </p:nvSpPr>
        <p:spPr>
          <a:xfrm>
            <a:off x="509175" y="3088340"/>
            <a:ext cx="254879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latin typeface="Inter" pitchFamily="34" charset="0"/>
                <a:ea typeface="Inter" pitchFamily="34" charset="-122"/>
                <a:cs typeface="Inter" pitchFamily="34" charset="-120"/>
              </a:rPr>
              <a:t>Structured financial fields</a:t>
            </a:r>
            <a:endParaRPr lang="en-US" sz="1600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B07A3F1D-FAE8-44D6-898F-E2D398115215}"/>
              </a:ext>
            </a:extLst>
          </p:cNvPr>
          <p:cNvSpPr/>
          <p:nvPr/>
        </p:nvSpPr>
        <p:spPr>
          <a:xfrm>
            <a:off x="509175" y="5428178"/>
            <a:ext cx="3081657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latin typeface="Inter" pitchFamily="34" charset="0"/>
                <a:ea typeface="Inter" pitchFamily="34" charset="-122"/>
                <a:cs typeface="Inter" pitchFamily="34" charset="-120"/>
              </a:rPr>
              <a:t>Support for scanned documents</a:t>
            </a:r>
            <a:endParaRPr lang="en-US" sz="1600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60CE3B74-058B-45F6-BD91-BB21ED4A54EA}"/>
              </a:ext>
            </a:extLst>
          </p:cNvPr>
          <p:cNvSpPr/>
          <p:nvPr/>
        </p:nvSpPr>
        <p:spPr>
          <a:xfrm>
            <a:off x="4331038" y="3088340"/>
            <a:ext cx="315780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latin typeface="Inter" pitchFamily="34" charset="0"/>
                <a:ea typeface="Inter" pitchFamily="34" charset="-122"/>
                <a:cs typeface="Inter" pitchFamily="34" charset="-120"/>
              </a:rPr>
              <a:t>Automated consistency checks</a:t>
            </a:r>
            <a:endParaRPr lang="en-US" sz="160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BC6E2B07-96E7-43D0-891B-545BCF8DD0B6}"/>
              </a:ext>
            </a:extLst>
          </p:cNvPr>
          <p:cNvSpPr/>
          <p:nvPr/>
        </p:nvSpPr>
        <p:spPr>
          <a:xfrm>
            <a:off x="4331038" y="5437167"/>
            <a:ext cx="315780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latin typeface="Inter" pitchFamily="34" charset="0"/>
                <a:ea typeface="Inter" pitchFamily="34" charset="-122"/>
                <a:cs typeface="Inter" pitchFamily="34" charset="-120"/>
              </a:rPr>
              <a:t>Structured results through APIs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78851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86C31-C867-4F89-A379-F9019D5F1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4072" y="2180492"/>
            <a:ext cx="11443856" cy="1790998"/>
          </a:xfrm>
        </p:spPr>
        <p:txBody>
          <a:bodyPr>
            <a:noAutofit/>
          </a:bodyPr>
          <a:lstStyle/>
          <a:p>
            <a:pPr algn="ctr"/>
            <a:r>
              <a:rPr lang="en-US" sz="13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9976078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312</TotalTime>
  <Words>474</Words>
  <Application>Microsoft Office PowerPoint</Application>
  <PresentationFormat>Widescreen</PresentationFormat>
  <Paragraphs>137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Cabin SemiBold</vt:lpstr>
      <vt:lpstr>Century Gothic</vt:lpstr>
      <vt:lpstr>Inter</vt:lpstr>
      <vt:lpstr>Inter Bold</vt:lpstr>
      <vt:lpstr>Inter SemiBold</vt:lpstr>
      <vt:lpstr>Vapor Trail</vt:lpstr>
      <vt:lpstr>Document Intelligence Platform: Intelligent Document Extraction, Validation &amp; API Platform </vt:lpstr>
      <vt:lpstr>The problem</vt:lpstr>
      <vt:lpstr>END-TO-END WORKFLOW</vt:lpstr>
      <vt:lpstr>SUPPORTED DOCUMENTS </vt:lpstr>
      <vt:lpstr>DOCUMENT PROCESSING &amp; OCR</vt:lpstr>
      <vt:lpstr>AI EXTRACTION</vt:lpstr>
      <vt:lpstr>FINANCIAL VALIDATION</vt:lpstr>
      <vt:lpstr>ENGINEERING CHALLENGES</vt:lpstr>
      <vt:lpstr>API TESTING &amp; DEPLOYMENT</vt:lpstr>
      <vt:lpstr>TESTING &amp; VERIFICATION</vt:lpstr>
      <vt:lpstr> THE OUTCOME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Case Study: Intelligent Document Extraction, Validation &amp; API Platform</dc:title>
  <dc:creator>Chandana N V - [CB.PS.I5MAT22002]</dc:creator>
  <cp:lastModifiedBy>Chandana N V - [CB.PS.I5MAT22002]</cp:lastModifiedBy>
  <cp:revision>21</cp:revision>
  <dcterms:created xsi:type="dcterms:W3CDTF">2026-09-11T13:48:26Z</dcterms:created>
  <dcterms:modified xsi:type="dcterms:W3CDTF">2026-09-11T19:00:54Z</dcterms:modified>
</cp:coreProperties>
</file>